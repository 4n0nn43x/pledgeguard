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eed60c-ea2c-94e4-60eb-0f3294a289df}">
          <p14:sldIdLst>
            <p14:sldId id="256"/>
          </p14:sldIdLst>
        </p14:section>
        <p14:section name="Problem" id="{ece997c9-1b06-ff93-b373-3494caafe4ee}">
          <p14:sldIdLst>
            <p14:sldId id="257"/>
            <p14:sldId id="258"/>
            <p14:sldId id="259"/>
          </p14:sldIdLst>
        </p14:section>
        <p14:section name="Solution" id="{bc2591c3-b2bb-0bc1-1bb4-0b14476524d5}">
          <p14:sldIdLst>
            <p14:sldId id="260"/>
            <p14:sldId id="261"/>
          </p14:sldIdLst>
        </p14:section>
        <p14:section name="Business" id="{a56a2e03-1ff1-5c8d-9fec-49dd56b213e7}">
          <p14:sldIdLst>
            <p14:sldId id="262"/>
            <p14:sldId id="263"/>
            <p14:sldId id="264"/>
            <p14:sldId id="265"/>
            <p14:sldId id="266"/>
          </p14:sldIdLst>
        </p14:section>
        <p14:section name="Team and ask" id="{11294bc0-d30f-6033-f8d0-f8d51fc980c3}">
          <p14:sldIdLst>
            <p14:sldId id="267"/>
            <p14:sldId id="268"/>
            <p14:sldId id="269"/>
          </p14:sldIdLst>
        </p14:section>
        <p14:section name="Appendix" id="{d74c4eca-77d5-890b-91d8-7ea93a0c1c2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PledgeGuard stops the same collateral from being pledged to two lenders, before any money moves, without any lender seeing another's book. It is live on Canton DevNet with real Canton Coin, and the registry's 2-of-3 decentralized governance is proven on a three-node Canton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recent cases. Tricolor: JPMorgan took a 170 million dollar charge-off, and the SEC charged its former executives in August 2026. First Brands collapsed with around 10 billion of liabilities after receivables were financed more than once. Market Financial Solutions left its lenders facing a 930 million pound shortfall in 2026. In every case each lender did its diligence correctly, on its own book, and could not see the other lenders.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stays hidden. Today each lender sees only its own book, so a second pledge is invisible. On a public chain the collision would be visible, but so would every competitor's loans, which no lender accepts. Canton is the only place where the collision can be detected while every book stays private, inside the same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The losses are fresh: the SEC charged Tricolor's former executives in August 2026, First Brands' founders were indicted in January, and Market Financial Solutions went into administration in February. And collateral and settlement are moving onto Canton: DTCC's Tokenization Service is scheduled for commercial launch this month, Broadridge runs repo on Canton every day, and USD1 is issued natively. For the first time, the collateral check and the money can sit in the same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and one decision. The borrower registers a fingerprint of the collateral file; the hash is computed in the browser, so the file never leaves. Each lender signs a bilateral facility; the registry is not a party to it. At every draw, the registry checks the fingerprint inside the same Canton transaction as the payment. If the collateral is free, the pledge is recorded and the coin moves. If it is already pledged, the draw is stopped, nothing is paid out, and both lenders are alerted without learning who the other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mockup. The platform runs on Canton DevNet with real Canton Coin. The first lender drew 5 coins: balance 50 to 45, pledge recorded. The second lender then drew on the same collateral: its 4 coins were reserved, never paid out, and released back. Each of the five organisations works in its own workspace. Anyone can explore read-only, and judges get an access code to play the whole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buys: warehouse and asset-based lending desks, receivables finance and factoring firms, and private credit funds, starting with the credit platforms already on Canton such as Alpend, Cenote and ACME Markets. The money that moves is large: 4 trillion euros were factored worldwide in 2025 according to FCI, and private credit holds about 1.7 trillion dollars according to Preqin. Bottom-up, with illustrative assumptions we will validate in pilots: a mid-size lender drawing 2 billion dollars a year, at one basis point per draw, is 200 thousand dollars a year; fifty such lenders is 10 million dollars of annual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lender pays, because it is the party that avoids the loss. A per-draw fee of a few basis points is taken inside the same settlement transaction, so there is nothing to invoice or collect. Participating lenders also pay an annual membership. The registry members, BitSafe, NODERS and PledgeGuard, earn a share of the fees for hosting the decentralized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proven today. A 24-transaction Daml test suite with every privacy assertion green. A three-participant Canton network where the 2-of-3 governance vote executes and a single approval is refused by the ledger. The full workflow live on DevNet with real Canton Coin. And one finding we are proud of: our own review found that a borrower could re-register an already pledged file to get a fresh, empty index; we fixed it, covered it with a test and verified it on the live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PledgeGuard compares. Borrower representations and UCC searches keep books private but cannot see across lenders. A central registry like MonetaGo sees across lenders, which proves the demand, but it sees everyone's documents and only advises before funding. A public chain sees everything and exposes everything. PledgeGuard sees across lenders through fingerprints only, keeps every book private, and stops the funding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Go-to-market in four steps. First the lenders already on Canton, such as Alpend, Cenote and ACME Markets, for whom integration is a Daml package and a few API calls. Then the Canton Foundation's RFP 12.2 grant track on collateral and lending workflows. BitSafe and NODERS bring the registry's independent members. And beyond Canton, the secured-finance associations SFNet and the LSTA reach the ABL and factoring desks.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PledgeGuard was built by one founder, Nolwen Sean HONONTA: the Daml model and its test suite, the registry automation and its security fixes, the live platform, and the decentralized registry on a three-node Canton network. The next two hires are a credit or ABL lead to run lender pilots, and a Canton engineer to operate the registry members and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are asking for. A place in the Grand Final and the AppsFactory accelerator, to turn the live platform into a pilot-ready product in eight weeks. A Canton Foundation grant under RFP 12.2, to fund the registry members, the fingerprint schema and conformance tests. And introductions: one pilot lender for a 90-day shadow pilot on real facilities with no funds at risk, and BitSafe and NODERS as registry members. In 90 days that buys three independent registry members on DevNet, a shadow pilot with 20 real fingerprints and a collision drill, and a first settled stablecoin draw on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PledgeGuard: one collateral, one live claim. The platform is live at pledgeguard.fyra.fun; anyone can explore it read-only, and judges can play the whole workflow with their access code. The code is public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privacy matrix, read straight from the ledger. The borrower sees both facilities; each lender sees only its own; the registry operator and the auditor never receive a facility at all. The registry sees fingerprints and who holds the live pledge. The auditor sees only the double-pledge alerts. The same table is public on the platform's Visibility page, computed from each organisation's own ledger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Canton properties make this possible. Sub-transaction privacy gives each lender its own view. A registry party can sign the collision check without being a party to any loan. The check and the token-standard payment run in one transaction, so there is no window where two lenders both see the collateral as free. And the registry can run as a decentralized party, so no single operator controls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Lenders will not feed a competitor's or a vendor's database, so no single operator should run the registry. The registry is a Canton decentralized party with three members. Everyday checks are automatic under a delegation the members granted once. Anything sensitive, like switching the automation off or freeing a disputed collateral, needs two of three members, and the ledger itself refuses a single approval. We proved this on a three-node Canton network with BitSafe's Decentralization Manager; on DevNet the registry is a single party with the same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G Title">
    <p:bg>
      <p:bgPr>
        <a:solidFill>
          <a:srgbClr val="0B0C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58368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246120"/>
            <a:ext cx="6400800" cy="685800"/>
          </a:xfrm>
          <a:prstGeom prst="rect">
            <a:avLst/>
          </a:prstGeom>
          <a:noFill/>
          <a:ln/>
        </p:spPr>
        <p:txBody>
          <a:bodyPr wrap="square" rtlCol="0"/>
          <a:lstStyle>
            <a:lvl1pPr algn="l" indent="0" marL="0">
              <a:buNone/>
              <a:defRPr lang="en-US" sz="2800" i="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G Content">
    <p:bg>
      <p:bgPr>
        <a:solidFill>
          <a:srgbClr val="0B0C0F"/>
        </a:solidFill>
      </p:bgPr>
    </p:bg>
    <p:spTree>
      <p:nvGrpSpPr>
        <p:cNvPr id="1" name=""/>
        <p:cNvGrpSpPr/>
        <p:nvPr/>
      </p:nvGrpSpPr>
      <p:grpSpPr>
        <a:xfrm>
          <a:off x="0" y="0"/>
          <a:ext cx="0" cy="0"/>
          <a:chOff x="0" y="0"/>
          <a:chExt cx="0" cy="0"/>
        </a:xfrm>
      </p:grpSpPr>
      <p:pic>
        <p:nvPicPr>
          <p:cNvPr id="2" name="Image 0" descr="/home/anonnaes/Workspace/hackathon/canton/pledgeguard-pitch/img/mark-t.png">    </p:cNvPr>
          <p:cNvPicPr>
            <a:picLocks noChangeAspect="1"/>
          </p:cNvPicPr>
          <p:nvPr/>
        </p:nvPicPr>
        <p:blipFill>
          <a:blip r:embed="rId1"/>
          <a:stretch>
            <a:fillRect/>
          </a:stretch>
        </p:blipFill>
        <p:spPr>
          <a:xfrm>
            <a:off x="548640" y="6336792"/>
            <a:ext cx="201168" cy="201168"/>
          </a:xfrm>
          <a:prstGeom prst="rect">
            <a:avLst/>
          </a:prstGeom>
        </p:spPr>
      </p:pic>
      <p:sp>
        <p:nvSpPr>
          <p:cNvPr id="3" name="Text 0"/>
          <p:cNvSpPr/>
          <p:nvPr/>
        </p:nvSpPr>
        <p:spPr>
          <a:xfrm>
            <a:off x="822960" y="6309360"/>
            <a:ext cx="2743200" cy="256032"/>
          </a:xfrm>
          <a:prstGeom prst="rect">
            <a:avLst/>
          </a:prstGeom>
          <a:noFill/>
          <a:ln/>
        </p:spPr>
        <p:txBody>
          <a:bodyPr wrap="square" lIns="0" tIns="0" rIns="0" bIns="0" rtlCol="0" anchor="ctr"/>
          <a:lstStyle/>
          <a:p>
            <a:pPr indent="0" marL="0">
              <a:buNone/>
            </a:pPr>
            <a:r>
              <a:rPr lang="en-US" sz="1000" dirty="0">
                <a:solidFill>
                  <a:schemeClr val="bg2"/>
                </a:solidFill>
              </a:rPr>
              <a:t>PledgeGuard</a:t>
            </a:r>
            <a:endParaRPr lang="en-US" sz="1000" dirty="0"/>
          </a:p>
        </p:txBody>
      </p:sp>
      <p:sp>
        <p:nvSpPr>
          <p:cNvPr id="4" name="Text 1"/>
          <p:cNvSpPr/>
          <p:nvPr>
            <p:ph idx="102"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pledgeguard.fyra.fun/app" TargetMode="External"/><Relationship Id="rId3" Type="http://schemas.openxmlformats.org/officeDocument/2006/relationships/hyperlink" Target="https://github.com/4n0nn43x/pledgeguard" TargetMode="External"/><Relationship Id="rId1"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anonnaes/Workspace/hackathon/canton/pledgeguard-pitch/img/mark-t.png">    </p:cNvPr>
          <p:cNvPicPr>
            <a:picLocks noChangeAspect="1"/>
          </p:cNvPicPr>
          <p:nvPr/>
        </p:nvPicPr>
        <p:blipFill>
          <a:blip r:embed="rId1"/>
          <a:stretch>
            <a:fillRect/>
          </a:stretch>
        </p:blipFill>
        <p:spPr>
          <a:xfrm>
            <a:off x="548640" y="1143000"/>
            <a:ext cx="822960" cy="822960"/>
          </a:xfrm>
          <a:prstGeom prst="rect">
            <a:avLst/>
          </a:prstGeom>
        </p:spPr>
      </p:pic>
      <p:sp>
        <p:nvSpPr>
          <p:cNvPr id="3" name="Text 0"/>
          <p:cNvSpPr/>
          <p:nvPr>
            <p:ph idx="100" type="title" hasCustomPrompt="1"/>
          </p:nvPr>
        </p:nvSpPr>
        <p:spPr>
          <a:xfrm>
            <a:off x="548640" y="2148840"/>
            <a:ext cx="6583680" cy="1005840"/>
          </a:xfrm>
          <a:prstGeom prst="rect">
            <a:avLst/>
          </a:prstGeom>
          <a:noFill/>
          <a:ln/>
        </p:spPr>
        <p:txBody>
          <a:bodyPr wrap="square" lIns="0" tIns="0" rIns="0" bIns="0" rtlCol="0" anchor="b"/>
          <a:lstStyle/>
          <a:p>
            <a:pPr algn="l" indent="0" marL="0">
              <a:buNone/>
            </a:pPr>
            <a:r>
              <a:rPr lang="en-US" sz="5400" b="1" dirty="0">
                <a:solidFill>
                  <a:schemeClr val="bg1"/>
                </a:solidFill>
              </a:rPr>
              <a:t>PledgeGuard</a:t>
            </a:r>
            <a:endParaRPr lang="en-US" sz="5400" dirty="0"/>
          </a:p>
        </p:txBody>
      </p:sp>
      <p:sp>
        <p:nvSpPr>
          <p:cNvPr id="4" name="Text 0"/>
          <p:cNvSpPr/>
          <p:nvPr>
            <p:ph idx="101" type="body" hasCustomPrompt="1"/>
          </p:nvPr>
        </p:nvSpPr>
        <p:spPr>
          <a:xfrm>
            <a:off x="548640" y="3246120"/>
            <a:ext cx="6400800" cy="685800"/>
          </a:xfrm>
          <a:prstGeom prst="rect">
            <a:avLst/>
          </a:prstGeom>
          <a:noFill/>
          <a:ln/>
        </p:spPr>
        <p:txBody>
          <a:bodyPr wrap="square" lIns="0" tIns="0" rIns="0" bIns="0" rtlCol="0"/>
          <a:lstStyle/>
          <a:p>
            <a:pPr algn="l" indent="0" marL="0">
              <a:buNone/>
            </a:pPr>
            <a:r>
              <a:rPr lang="en-US" sz="2800" i="1" dirty="0">
                <a:solidFill>
                  <a:schemeClr val="accent1"/>
                </a:solidFill>
                <a:latin typeface="Cambria" pitchFamily="34" charset="0"/>
                <a:ea typeface="Cambria" pitchFamily="34" charset="-122"/>
                <a:cs typeface="Cambria" pitchFamily="34" charset="-120"/>
              </a:rPr>
              <a:t>One collateral. One live claim.</a:t>
            </a:r>
            <a:endParaRPr lang="en-US" sz="2800" dirty="0"/>
          </a:p>
        </p:txBody>
      </p:sp>
      <p:sp>
        <p:nvSpPr>
          <p:cNvPr id="5" name="Text 2"/>
          <p:cNvSpPr txBox="1"/>
          <p:nvPr/>
        </p:nvSpPr>
        <p:spPr>
          <a:xfrm>
            <a:off x="548640" y="4069080"/>
            <a:ext cx="6126480" cy="822960"/>
          </a:xfrm>
          <a:prstGeom prst="rect">
            <a:avLst/>
          </a:prstGeom>
          <a:noFill/>
          <a:ln/>
        </p:spPr>
        <p:txBody>
          <a:bodyPr wrap="square" lIns="0" tIns="0" rIns="0" bIns="0" rtlCol="0" anchor="t"/>
          <a:lstStyle/>
          <a:p>
            <a:pPr indent="0" marL="0">
              <a:buNone/>
            </a:pPr>
            <a:r>
              <a:rPr lang="en-US" sz="1900" dirty="0">
                <a:solidFill>
                  <a:schemeClr val="bg1"/>
                </a:solidFill>
              </a:rPr>
              <a:t>Stops double-pledged collateral before any money moves, without exposing a single lender's book.</a:t>
            </a:r>
            <a:endParaRPr lang="en-US" sz="1900" dirty="0"/>
          </a:p>
        </p:txBody>
      </p:sp>
      <p:sp>
        <p:nvSpPr>
          <p:cNvPr id="6" name="Shape 3"/>
          <p:cNvSpPr/>
          <p:nvPr/>
        </p:nvSpPr>
        <p:spPr>
          <a:xfrm>
            <a:off x="548640" y="5074920"/>
            <a:ext cx="1924812" cy="384048"/>
          </a:xfrm>
          <a:prstGeom prst="roundRect">
            <a:avLst>
              <a:gd name="adj" fmla="val 50000"/>
            </a:avLst>
          </a:prstGeom>
          <a:solidFill>
            <a:schemeClr val="tx2"/>
          </a:solidFill>
          <a:ln w="9525">
            <a:solidFill>
              <a:schemeClr val="accent1"/>
            </a:solidFill>
            <a:prstDash val="solid"/>
          </a:ln>
        </p:spPr>
      </p:sp>
      <p:sp>
        <p:nvSpPr>
          <p:cNvPr id="7" name="Text 4"/>
          <p:cNvSpPr txBox="1"/>
          <p:nvPr/>
        </p:nvSpPr>
        <p:spPr>
          <a:xfrm>
            <a:off x="548640" y="5074920"/>
            <a:ext cx="1924812" cy="384048"/>
          </a:xfrm>
          <a:prstGeom prst="rect">
            <a:avLst/>
          </a:prstGeom>
          <a:noFill/>
          <a:ln/>
        </p:spPr>
        <p:txBody>
          <a:bodyPr wrap="square" lIns="0" tIns="0" rIns="0" bIns="0" rtlCol="0" anchor="ctr"/>
          <a:lstStyle/>
          <a:p>
            <a:pPr algn="ctr" indent="0" marL="0">
              <a:buNone/>
            </a:pPr>
            <a:r>
              <a:rPr lang="en-US" sz="1200" dirty="0">
                <a:solidFill>
                  <a:schemeClr val="accent1"/>
                </a:solidFill>
              </a:rPr>
              <a:t>Live on Canton DevNet</a:t>
            </a:r>
            <a:endParaRPr lang="en-US" sz="1200" dirty="0"/>
          </a:p>
        </p:txBody>
      </p:sp>
      <p:sp>
        <p:nvSpPr>
          <p:cNvPr id="8" name="Shape 5"/>
          <p:cNvSpPr/>
          <p:nvPr/>
        </p:nvSpPr>
        <p:spPr>
          <a:xfrm>
            <a:off x="2610612" y="5074920"/>
            <a:ext cx="1536192" cy="384048"/>
          </a:xfrm>
          <a:prstGeom prst="roundRect">
            <a:avLst>
              <a:gd name="adj" fmla="val 50000"/>
            </a:avLst>
          </a:prstGeom>
          <a:solidFill>
            <a:schemeClr val="tx2"/>
          </a:solidFill>
          <a:ln w="9525">
            <a:solidFill>
              <a:schemeClr val="accent1"/>
            </a:solidFill>
            <a:prstDash val="solid"/>
          </a:ln>
        </p:spPr>
      </p:sp>
      <p:sp>
        <p:nvSpPr>
          <p:cNvPr id="9" name="Text 6"/>
          <p:cNvSpPr txBox="1"/>
          <p:nvPr/>
        </p:nvSpPr>
        <p:spPr>
          <a:xfrm>
            <a:off x="2610612" y="5074920"/>
            <a:ext cx="1536192" cy="384048"/>
          </a:xfrm>
          <a:prstGeom prst="rect">
            <a:avLst/>
          </a:prstGeom>
          <a:noFill/>
          <a:ln/>
        </p:spPr>
        <p:txBody>
          <a:bodyPr wrap="square" lIns="0" tIns="0" rIns="0" bIns="0" rtlCol="0" anchor="ctr"/>
          <a:lstStyle/>
          <a:p>
            <a:pPr algn="ctr" indent="0" marL="0">
              <a:buNone/>
            </a:pPr>
            <a:r>
              <a:rPr lang="en-US" sz="1200" dirty="0">
                <a:solidFill>
                  <a:schemeClr val="accent1"/>
                </a:solidFill>
              </a:rPr>
              <a:t>Real Canton Coin</a:t>
            </a:r>
            <a:endParaRPr lang="en-US" sz="1200" dirty="0"/>
          </a:p>
        </p:txBody>
      </p:sp>
      <p:sp>
        <p:nvSpPr>
          <p:cNvPr id="10" name="Shape 7"/>
          <p:cNvSpPr/>
          <p:nvPr/>
        </p:nvSpPr>
        <p:spPr>
          <a:xfrm>
            <a:off x="4283964" y="5074920"/>
            <a:ext cx="2546604" cy="384048"/>
          </a:xfrm>
          <a:prstGeom prst="roundRect">
            <a:avLst>
              <a:gd name="adj" fmla="val 50000"/>
            </a:avLst>
          </a:prstGeom>
          <a:solidFill>
            <a:schemeClr val="tx2"/>
          </a:solidFill>
          <a:ln w="9525">
            <a:solidFill>
              <a:schemeClr val="accent1"/>
            </a:solidFill>
            <a:prstDash val="solid"/>
          </a:ln>
        </p:spPr>
      </p:sp>
      <p:sp>
        <p:nvSpPr>
          <p:cNvPr id="11" name="Text 8"/>
          <p:cNvSpPr txBox="1"/>
          <p:nvPr/>
        </p:nvSpPr>
        <p:spPr>
          <a:xfrm>
            <a:off x="4283964" y="5074920"/>
            <a:ext cx="2546604" cy="384048"/>
          </a:xfrm>
          <a:prstGeom prst="rect">
            <a:avLst/>
          </a:prstGeom>
          <a:noFill/>
          <a:ln/>
        </p:spPr>
        <p:txBody>
          <a:bodyPr wrap="square" lIns="0" tIns="0" rIns="0" bIns="0" rtlCol="0" anchor="ctr"/>
          <a:lstStyle/>
          <a:p>
            <a:pPr algn="ctr" indent="0" marL="0">
              <a:buNone/>
            </a:pPr>
            <a:r>
              <a:rPr lang="en-US" sz="1200" dirty="0">
                <a:solidFill>
                  <a:schemeClr val="accent1"/>
                </a:solidFill>
              </a:rPr>
              <a:t>2-of-3 decentralized registry</a:t>
            </a:r>
            <a:endParaRPr lang="en-US" sz="1200" dirty="0"/>
          </a:p>
        </p:txBody>
      </p:sp>
      <p:sp>
        <p:nvSpPr>
          <p:cNvPr id="12" name="Text 9"/>
          <p:cNvSpPr txBox="1"/>
          <p:nvPr/>
        </p:nvSpPr>
        <p:spPr>
          <a:xfrm>
            <a:off x="548640" y="5989320"/>
            <a:ext cx="7315200" cy="274320"/>
          </a:xfrm>
          <a:prstGeom prst="rect">
            <a:avLst/>
          </a:prstGeom>
          <a:noFill/>
          <a:ln/>
        </p:spPr>
        <p:txBody>
          <a:bodyPr wrap="square" lIns="0" tIns="0" rIns="0" bIns="0" rtlCol="0" anchor="t"/>
          <a:lstStyle/>
          <a:p>
            <a:pPr indent="0" marL="0">
              <a:buNone/>
            </a:pPr>
            <a:r>
              <a:rPr lang="en-US" sz="1200" dirty="0">
                <a:solidFill>
                  <a:schemeClr val="bg2"/>
                </a:solidFill>
              </a:rPr>
              <a:t>HackCanton Season 3  ·  RWA &amp; Business Workflows  ·  pledgeguard.fyra.fun</a:t>
            </a:r>
            <a:endParaRPr lang="en-US" sz="1200" dirty="0"/>
          </a:p>
        </p:txBody>
      </p:sp>
      <p:sp>
        <p:nvSpPr>
          <p:cNvPr id="13" name="Shape 10"/>
          <p:cNvSpPr/>
          <p:nvPr/>
        </p:nvSpPr>
        <p:spPr>
          <a:xfrm>
            <a:off x="7031736" y="1271016"/>
            <a:ext cx="4681728" cy="2681478"/>
          </a:xfrm>
          <a:prstGeom prst="roundRect">
            <a:avLst>
              <a:gd name="adj" fmla="val 2046"/>
            </a:avLst>
          </a:prstGeom>
          <a:solidFill>
            <a:schemeClr val="tx2"/>
          </a:solidFill>
          <a:ln w="9525">
            <a:solidFill>
              <a:schemeClr val="accent1"/>
            </a:solidFill>
            <a:prstDash val="solid"/>
          </a:ln>
        </p:spPr>
      </p:sp>
      <p:pic>
        <p:nvPicPr>
          <p:cNvPr id="14" name="Image 1" descr="/home/anonnaes/Workspace/hackathon/canton/pledgeguard-pitch/img/drawB.png">    </p:cNvPr>
          <p:cNvPicPr>
            <a:picLocks noChangeAspect="1"/>
          </p:cNvPicPr>
          <p:nvPr/>
        </p:nvPicPr>
        <p:blipFill>
          <a:blip r:embed="rId2"/>
          <a:stretch>
            <a:fillRect/>
          </a:stretch>
        </p:blipFill>
        <p:spPr>
          <a:xfrm>
            <a:off x="7086600" y="1325880"/>
            <a:ext cx="4572000" cy="2571750"/>
          </a:xfrm>
          <a:prstGeom prst="rect">
            <a:avLst/>
          </a:prstGeom>
        </p:spPr>
      </p:pic>
      <p:sp>
        <p:nvSpPr>
          <p:cNvPr id="15" name="Text 11"/>
          <p:cNvSpPr txBox="1"/>
          <p:nvPr/>
        </p:nvSpPr>
        <p:spPr>
          <a:xfrm>
            <a:off x="7086600" y="4069080"/>
            <a:ext cx="4572000" cy="548640"/>
          </a:xfrm>
          <a:prstGeom prst="rect">
            <a:avLst/>
          </a:prstGeom>
          <a:noFill/>
          <a:ln/>
        </p:spPr>
        <p:txBody>
          <a:bodyPr wrap="square" lIns="0" tIns="0" rIns="0" bIns="0" rtlCol="0" anchor="t"/>
          <a:lstStyle/>
          <a:p>
            <a:pPr indent="0" marL="0">
              <a:buNone/>
            </a:pPr>
            <a:r>
              <a:rPr lang="en-US" sz="1200" i="1" dirty="0">
                <a:solidFill>
                  <a:schemeClr val="bg2"/>
                </a:solidFill>
              </a:rPr>
              <a:t>The product, live: a second lender's draw on already pledged collateral, stopped with nothing paid out.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Double-pledged collateral has cost lenders billions</a:t>
            </a:r>
            <a:endParaRPr lang="en-US" sz="3200" dirty="0"/>
          </a:p>
        </p:txBody>
      </p:sp>
      <p:sp>
        <p:nvSpPr>
          <p:cNvPr id="3" name="stat-0"/>
          <p:cNvSpPr/>
          <p:nvPr/>
        </p:nvSpPr>
        <p:spPr>
          <a:xfrm>
            <a:off x="548640" y="1600200"/>
            <a:ext cx="3429000" cy="2971800"/>
          </a:xfrm>
          <a:prstGeom prst="roundRect">
            <a:avLst>
              <a:gd name="adj" fmla="val 2462"/>
            </a:avLst>
          </a:prstGeom>
          <a:solidFill>
            <a:schemeClr val="tx2"/>
          </a:solidFill>
          <a:ln w="9525">
            <a:solidFill>
              <a:schemeClr val="accent6"/>
            </a:solidFill>
            <a:prstDash val="solid"/>
          </a:ln>
        </p:spPr>
      </p:sp>
      <p:sp>
        <p:nvSpPr>
          <p:cNvPr id="4" name="Text 2"/>
          <p:cNvSpPr txBox="1"/>
          <p:nvPr/>
        </p:nvSpPr>
        <p:spPr>
          <a:xfrm>
            <a:off x="868680" y="1920240"/>
            <a:ext cx="27889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$170M</a:t>
            </a:r>
            <a:endParaRPr lang="en-US" sz="5400" dirty="0"/>
          </a:p>
        </p:txBody>
      </p:sp>
      <p:sp>
        <p:nvSpPr>
          <p:cNvPr id="5" name="Text 3"/>
          <p:cNvSpPr txBox="1"/>
          <p:nvPr/>
        </p:nvSpPr>
        <p:spPr>
          <a:xfrm>
            <a:off x="868680" y="2880360"/>
            <a:ext cx="2788920" cy="365760"/>
          </a:xfrm>
          <a:prstGeom prst="rect">
            <a:avLst/>
          </a:prstGeom>
          <a:noFill/>
          <a:ln/>
        </p:spPr>
        <p:txBody>
          <a:bodyPr wrap="square" lIns="0" tIns="0" rIns="0" bIns="0" rtlCol="0" anchor="t">
            <a:normAutofit/>
          </a:bodyPr>
          <a:lstStyle/>
          <a:p>
            <a:pPr indent="0" marL="0">
              <a:buNone/>
            </a:pPr>
            <a:r>
              <a:rPr lang="en-US" sz="1800" b="1" dirty="0">
                <a:solidFill>
                  <a:schemeClr val="bg1"/>
                </a:solidFill>
              </a:rPr>
              <a:t>Tricolor</a:t>
            </a:r>
            <a:endParaRPr lang="en-US" sz="1800" dirty="0"/>
          </a:p>
        </p:txBody>
      </p:sp>
      <p:sp>
        <p:nvSpPr>
          <p:cNvPr id="6" name="Text 4"/>
          <p:cNvSpPr txBox="1"/>
          <p:nvPr/>
        </p:nvSpPr>
        <p:spPr>
          <a:xfrm>
            <a:off x="868680" y="3383280"/>
            <a:ext cx="2788920" cy="1005840"/>
          </a:xfrm>
          <a:prstGeom prst="rect">
            <a:avLst/>
          </a:prstGeom>
          <a:noFill/>
          <a:ln/>
        </p:spPr>
        <p:txBody>
          <a:bodyPr wrap="square" lIns="0" tIns="0" rIns="0" bIns="0" rtlCol="0" anchor="t"/>
          <a:lstStyle/>
          <a:p>
            <a:pPr indent="0" marL="0">
              <a:buNone/>
            </a:pPr>
            <a:r>
              <a:rPr lang="en-US" sz="1400" dirty="0">
                <a:solidFill>
                  <a:schemeClr val="bg2"/>
                </a:solidFill>
              </a:rPr>
              <a:t>JPMorgan's charge-off after the same auto loans were pledged to several banks (2025)</a:t>
            </a:r>
            <a:endParaRPr lang="en-US" sz="1400" dirty="0"/>
          </a:p>
        </p:txBody>
      </p:sp>
      <p:sp>
        <p:nvSpPr>
          <p:cNvPr id="7" name="stat-1"/>
          <p:cNvSpPr/>
          <p:nvPr/>
        </p:nvSpPr>
        <p:spPr>
          <a:xfrm>
            <a:off x="4297680" y="1600200"/>
            <a:ext cx="3429000" cy="2971800"/>
          </a:xfrm>
          <a:prstGeom prst="roundRect">
            <a:avLst>
              <a:gd name="adj" fmla="val 2462"/>
            </a:avLst>
          </a:prstGeom>
          <a:solidFill>
            <a:schemeClr val="tx2"/>
          </a:solidFill>
          <a:ln w="9525">
            <a:solidFill>
              <a:schemeClr val="accent6"/>
            </a:solidFill>
            <a:prstDash val="solid"/>
          </a:ln>
        </p:spPr>
      </p:sp>
      <p:sp>
        <p:nvSpPr>
          <p:cNvPr id="8" name="Text 6"/>
          <p:cNvSpPr txBox="1"/>
          <p:nvPr/>
        </p:nvSpPr>
        <p:spPr>
          <a:xfrm>
            <a:off x="4617720" y="1920240"/>
            <a:ext cx="27889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~$10B</a:t>
            </a:r>
            <a:endParaRPr lang="en-US" sz="5400" dirty="0"/>
          </a:p>
        </p:txBody>
      </p:sp>
      <p:sp>
        <p:nvSpPr>
          <p:cNvPr id="9" name="Text 7"/>
          <p:cNvSpPr txBox="1"/>
          <p:nvPr/>
        </p:nvSpPr>
        <p:spPr>
          <a:xfrm>
            <a:off x="4617720" y="2880360"/>
            <a:ext cx="2788920" cy="365760"/>
          </a:xfrm>
          <a:prstGeom prst="rect">
            <a:avLst/>
          </a:prstGeom>
          <a:noFill/>
          <a:ln/>
        </p:spPr>
        <p:txBody>
          <a:bodyPr wrap="square" lIns="0" tIns="0" rIns="0" bIns="0" rtlCol="0" anchor="t">
            <a:normAutofit/>
          </a:bodyPr>
          <a:lstStyle/>
          <a:p>
            <a:pPr indent="0" marL="0">
              <a:buNone/>
            </a:pPr>
            <a:r>
              <a:rPr lang="en-US" sz="1800" b="1" dirty="0">
                <a:solidFill>
                  <a:schemeClr val="bg1"/>
                </a:solidFill>
              </a:rPr>
              <a:t>First Brands</a:t>
            </a:r>
            <a:endParaRPr lang="en-US" sz="1800" dirty="0"/>
          </a:p>
        </p:txBody>
      </p:sp>
      <p:sp>
        <p:nvSpPr>
          <p:cNvPr id="10" name="Text 8"/>
          <p:cNvSpPr txBox="1"/>
          <p:nvPr/>
        </p:nvSpPr>
        <p:spPr>
          <a:xfrm>
            <a:off x="4617720" y="3383280"/>
            <a:ext cx="2788920" cy="1005840"/>
          </a:xfrm>
          <a:prstGeom prst="rect">
            <a:avLst/>
          </a:prstGeom>
          <a:noFill/>
          <a:ln/>
        </p:spPr>
        <p:txBody>
          <a:bodyPr wrap="square" lIns="0" tIns="0" rIns="0" bIns="0" rtlCol="0" anchor="t"/>
          <a:lstStyle/>
          <a:p>
            <a:pPr indent="0" marL="0">
              <a:buNone/>
            </a:pPr>
            <a:r>
              <a:rPr lang="en-US" sz="1400" dirty="0">
                <a:solidFill>
                  <a:schemeClr val="bg2"/>
                </a:solidFill>
              </a:rPr>
              <a:t>Liabilities at bankruptcy, with receivables financed more than once (2025)</a:t>
            </a:r>
            <a:endParaRPr lang="en-US" sz="1400" dirty="0"/>
          </a:p>
        </p:txBody>
      </p:sp>
      <p:sp>
        <p:nvSpPr>
          <p:cNvPr id="11" name="stat-2"/>
          <p:cNvSpPr/>
          <p:nvPr/>
        </p:nvSpPr>
        <p:spPr>
          <a:xfrm>
            <a:off x="8046720" y="1600200"/>
            <a:ext cx="3429000" cy="2971800"/>
          </a:xfrm>
          <a:prstGeom prst="roundRect">
            <a:avLst>
              <a:gd name="adj" fmla="val 2462"/>
            </a:avLst>
          </a:prstGeom>
          <a:solidFill>
            <a:schemeClr val="tx2"/>
          </a:solidFill>
          <a:ln w="9525">
            <a:solidFill>
              <a:schemeClr val="accent6"/>
            </a:solidFill>
            <a:prstDash val="solid"/>
          </a:ln>
        </p:spPr>
      </p:sp>
      <p:sp>
        <p:nvSpPr>
          <p:cNvPr id="12" name="Text 10"/>
          <p:cNvSpPr txBox="1"/>
          <p:nvPr/>
        </p:nvSpPr>
        <p:spPr>
          <a:xfrm>
            <a:off x="8366760" y="1920240"/>
            <a:ext cx="27889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£930M</a:t>
            </a:r>
            <a:endParaRPr lang="en-US" sz="5400" dirty="0"/>
          </a:p>
        </p:txBody>
      </p:sp>
      <p:sp>
        <p:nvSpPr>
          <p:cNvPr id="13" name="Text 11"/>
          <p:cNvSpPr txBox="1"/>
          <p:nvPr/>
        </p:nvSpPr>
        <p:spPr>
          <a:xfrm>
            <a:off x="8366760" y="2880360"/>
            <a:ext cx="2788920" cy="365760"/>
          </a:xfrm>
          <a:prstGeom prst="rect">
            <a:avLst/>
          </a:prstGeom>
          <a:noFill/>
          <a:ln/>
        </p:spPr>
        <p:txBody>
          <a:bodyPr wrap="square" lIns="0" tIns="0" rIns="0" bIns="0" rtlCol="0" anchor="t">
            <a:normAutofit/>
          </a:bodyPr>
          <a:lstStyle/>
          <a:p>
            <a:pPr indent="0" marL="0">
              <a:buNone/>
            </a:pPr>
            <a:r>
              <a:rPr lang="en-US" sz="1800" b="1" dirty="0">
                <a:solidFill>
                  <a:schemeClr val="bg1"/>
                </a:solidFill>
              </a:rPr>
              <a:t>MFS (UK)</a:t>
            </a:r>
            <a:endParaRPr lang="en-US" sz="1800" dirty="0"/>
          </a:p>
        </p:txBody>
      </p:sp>
      <p:sp>
        <p:nvSpPr>
          <p:cNvPr id="14" name="Text 12"/>
          <p:cNvSpPr txBox="1"/>
          <p:nvPr/>
        </p:nvSpPr>
        <p:spPr>
          <a:xfrm>
            <a:off x="8366760" y="3383280"/>
            <a:ext cx="2788920" cy="1005840"/>
          </a:xfrm>
          <a:prstGeom prst="rect">
            <a:avLst/>
          </a:prstGeom>
          <a:noFill/>
          <a:ln/>
        </p:spPr>
        <p:txBody>
          <a:bodyPr wrap="square" lIns="0" tIns="0" rIns="0" bIns="0" rtlCol="0" anchor="t"/>
          <a:lstStyle/>
          <a:p>
            <a:pPr indent="0" marL="0">
              <a:buNone/>
            </a:pPr>
            <a:r>
              <a:rPr lang="en-US" sz="1400" dirty="0">
                <a:solidFill>
                  <a:schemeClr val="bg2"/>
                </a:solidFill>
              </a:rPr>
              <a:t>Market Financial Solutions: shortfall facing its lenders over alleged double pledging (2026)</a:t>
            </a:r>
            <a:endParaRPr lang="en-US" sz="1400" dirty="0"/>
          </a:p>
        </p:txBody>
      </p:sp>
      <p:sp>
        <p:nvSpPr>
          <p:cNvPr id="15" name="Text 13"/>
          <p:cNvSpPr txBox="1"/>
          <p:nvPr/>
        </p:nvSpPr>
        <p:spPr>
          <a:xfrm>
            <a:off x="548640" y="4937760"/>
            <a:ext cx="10972800" cy="457200"/>
          </a:xfrm>
          <a:prstGeom prst="rect">
            <a:avLst/>
          </a:prstGeom>
          <a:noFill/>
          <a:ln/>
        </p:spPr>
        <p:txBody>
          <a:bodyPr wrap="square" lIns="0" tIns="0" rIns="0" bIns="0" rtlCol="0" anchor="t"/>
          <a:lstStyle/>
          <a:p>
            <a:pPr indent="0" marL="0">
              <a:buNone/>
            </a:pPr>
            <a:r>
              <a:rPr lang="en-US" sz="2200" i="1" dirty="0">
                <a:solidFill>
                  <a:schemeClr val="accent1"/>
                </a:solidFill>
                <a:latin typeface="Cambria" pitchFamily="34" charset="0"/>
                <a:ea typeface="Cambria" pitchFamily="34" charset="-122"/>
                <a:cs typeface="Cambria" pitchFamily="34" charset="-120"/>
              </a:rPr>
              <a:t>Each lender's diligence was correct on its own book, and blind to the others.</a:t>
            </a:r>
            <a:endParaRPr lang="en-US" sz="2200" dirty="0"/>
          </a:p>
        </p:txBody>
      </p:sp>
      <p:sp>
        <p:nvSpPr>
          <p:cNvPr id="16" name="Text 14"/>
          <p:cNvSpPr txBox="1"/>
          <p:nvPr/>
        </p:nvSpPr>
        <p:spPr>
          <a:xfrm>
            <a:off x="548640" y="5760720"/>
            <a:ext cx="10972800" cy="274320"/>
          </a:xfrm>
          <a:prstGeom prst="rect">
            <a:avLst/>
          </a:prstGeom>
          <a:noFill/>
          <a:ln/>
        </p:spPr>
        <p:txBody>
          <a:bodyPr wrap="square" lIns="0" tIns="0" rIns="0" bIns="0" rtlCol="0" anchor="t"/>
          <a:lstStyle/>
          <a:p>
            <a:pPr indent="0" marL="0">
              <a:buNone/>
            </a:pPr>
            <a:r>
              <a:rPr lang="en-US" sz="1000" dirty="0">
                <a:solidFill>
                  <a:schemeClr val="accent5"/>
                </a:solidFill>
              </a:rPr>
              <a:t>Sources: JPMorgan Q3 2025 disclosure; First Brands Chapter 11 filings; Bloomberg, 27 Feb 2026.</a:t>
            </a:r>
            <a:endParaRPr lang="en-US" sz="10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Hidden on private books, exposed on public chains</a:t>
            </a:r>
            <a:endParaRPr lang="en-US" sz="3200" dirty="0"/>
          </a:p>
        </p:txBody>
      </p:sp>
      <p:sp>
        <p:nvSpPr>
          <p:cNvPr id="3" name="col-0"/>
          <p:cNvSpPr/>
          <p:nvPr/>
        </p:nvSpPr>
        <p:spPr>
          <a:xfrm>
            <a:off x="548640" y="1600200"/>
            <a:ext cx="3429000" cy="3291840"/>
          </a:xfrm>
          <a:prstGeom prst="roundRect">
            <a:avLst>
              <a:gd name="adj" fmla="val 2222"/>
            </a:avLst>
          </a:prstGeom>
          <a:solidFill>
            <a:schemeClr val="tx2"/>
          </a:solidFill>
          <a:ln w="9525">
            <a:solidFill>
              <a:schemeClr val="accent6"/>
            </a:solidFill>
            <a:prstDash val="solid"/>
          </a:ln>
        </p:spPr>
      </p:sp>
      <p:sp>
        <p:nvSpPr>
          <p:cNvPr id="4" name="Shape 2"/>
          <p:cNvSpPr/>
          <p:nvPr/>
        </p:nvSpPr>
        <p:spPr>
          <a:xfrm>
            <a:off x="868680" y="1965960"/>
            <a:ext cx="640080" cy="640080"/>
          </a:xfrm>
          <a:prstGeom prst="ellipse">
            <a:avLst/>
          </a:prstGeom>
          <a:solidFill>
            <a:schemeClr val="accent5"/>
          </a:solidFill>
          <a:ln w="12700">
            <a:solidFill>
              <a:schemeClr val="accent5"/>
            </a:solidFill>
            <a:prstDash val="solid"/>
          </a:ln>
        </p:spPr>
      </p:sp>
      <p:pic>
        <p:nvPicPr>
          <p:cNvPr id="5" name="Image 0" descr="preencoded.png">    </p:cNvPr>
          <p:cNvPicPr>
            <a:picLocks noChangeAspect="1"/>
          </p:cNvPicPr>
          <p:nvPr/>
        </p:nvPicPr>
        <p:blipFill>
          <a:blip r:embed="rId1"/>
          <a:stretch>
            <a:fillRect/>
          </a:stretch>
        </p:blipFill>
        <p:spPr>
          <a:xfrm>
            <a:off x="1009498" y="2106778"/>
            <a:ext cx="358445" cy="358445"/>
          </a:xfrm>
          <a:prstGeom prst="rect">
            <a:avLst/>
          </a:prstGeom>
        </p:spPr>
      </p:pic>
      <p:sp>
        <p:nvSpPr>
          <p:cNvPr id="6" name="Text 3"/>
          <p:cNvSpPr txBox="1"/>
          <p:nvPr/>
        </p:nvSpPr>
        <p:spPr>
          <a:xfrm>
            <a:off x="868680" y="2788920"/>
            <a:ext cx="2788920" cy="731520"/>
          </a:xfrm>
          <a:prstGeom prst="rect">
            <a:avLst/>
          </a:prstGeom>
          <a:noFill/>
          <a:ln/>
        </p:spPr>
        <p:txBody>
          <a:bodyPr wrap="square" lIns="0" tIns="0" rIns="0" bIns="0" rtlCol="0" anchor="b"/>
          <a:lstStyle/>
          <a:p>
            <a:pPr indent="0" marL="0">
              <a:buNone/>
            </a:pPr>
            <a:r>
              <a:rPr lang="en-US" sz="2000" b="1" dirty="0">
                <a:solidFill>
                  <a:schemeClr val="bg1"/>
                </a:solidFill>
              </a:rPr>
              <a:t>Today: private books</a:t>
            </a:r>
            <a:endParaRPr lang="en-US" sz="2000" dirty="0"/>
          </a:p>
        </p:txBody>
      </p:sp>
      <p:sp>
        <p:nvSpPr>
          <p:cNvPr id="7" name="Text 4"/>
          <p:cNvSpPr txBox="1"/>
          <p:nvPr/>
        </p:nvSpPr>
        <p:spPr>
          <a:xfrm>
            <a:off x="868680" y="3611880"/>
            <a:ext cx="2788920" cy="1143000"/>
          </a:xfrm>
          <a:prstGeom prst="rect">
            <a:avLst/>
          </a:prstGeom>
          <a:noFill/>
          <a:ln/>
        </p:spPr>
        <p:txBody>
          <a:bodyPr wrap="square" lIns="0" tIns="0" rIns="0" bIns="0" rtlCol="0" anchor="t"/>
          <a:lstStyle/>
          <a:p>
            <a:pPr indent="0" marL="0">
              <a:buNone/>
            </a:pPr>
            <a:r>
              <a:rPr lang="en-US" sz="1500" dirty="0">
                <a:solidFill>
                  <a:schemeClr val="bg2"/>
                </a:solidFill>
              </a:rPr>
              <a:t>Each lender sees only its own loans. A second pledge of the same file is invisible to it.</a:t>
            </a:r>
            <a:endParaRPr lang="en-US" sz="1500" dirty="0"/>
          </a:p>
        </p:txBody>
      </p:sp>
      <p:sp>
        <p:nvSpPr>
          <p:cNvPr id="8" name="col-1"/>
          <p:cNvSpPr/>
          <p:nvPr/>
        </p:nvSpPr>
        <p:spPr>
          <a:xfrm>
            <a:off x="4297680" y="1600200"/>
            <a:ext cx="3429000" cy="3291840"/>
          </a:xfrm>
          <a:prstGeom prst="roundRect">
            <a:avLst>
              <a:gd name="adj" fmla="val 2222"/>
            </a:avLst>
          </a:prstGeom>
          <a:solidFill>
            <a:schemeClr val="tx2"/>
          </a:solidFill>
          <a:ln w="9525">
            <a:solidFill>
              <a:schemeClr val="accent6"/>
            </a:solidFill>
            <a:prstDash val="solid"/>
          </a:ln>
        </p:spPr>
      </p:sp>
      <p:sp>
        <p:nvSpPr>
          <p:cNvPr id="9" name="Shape 6"/>
          <p:cNvSpPr/>
          <p:nvPr/>
        </p:nvSpPr>
        <p:spPr>
          <a:xfrm>
            <a:off x="4617720" y="1965960"/>
            <a:ext cx="640080" cy="640080"/>
          </a:xfrm>
          <a:prstGeom prst="ellipse">
            <a:avLst/>
          </a:prstGeom>
          <a:solidFill>
            <a:schemeClr val="accent5"/>
          </a:solidFill>
          <a:ln w="12700">
            <a:solidFill>
              <a:schemeClr val="accent5"/>
            </a:solidFill>
            <a:prstDash val="solid"/>
          </a:ln>
        </p:spPr>
      </p:sp>
      <p:pic>
        <p:nvPicPr>
          <p:cNvPr id="10" name="Image 1" descr="preencoded.png">    </p:cNvPr>
          <p:cNvPicPr>
            <a:picLocks noChangeAspect="1"/>
          </p:cNvPicPr>
          <p:nvPr/>
        </p:nvPicPr>
        <p:blipFill>
          <a:blip r:embed="rId2"/>
          <a:stretch>
            <a:fillRect/>
          </a:stretch>
        </p:blipFill>
        <p:spPr>
          <a:xfrm>
            <a:off x="4758538" y="2106778"/>
            <a:ext cx="358445" cy="358445"/>
          </a:xfrm>
          <a:prstGeom prst="rect">
            <a:avLst/>
          </a:prstGeom>
        </p:spPr>
      </p:pic>
      <p:sp>
        <p:nvSpPr>
          <p:cNvPr id="11" name="Text 7"/>
          <p:cNvSpPr txBox="1"/>
          <p:nvPr/>
        </p:nvSpPr>
        <p:spPr>
          <a:xfrm>
            <a:off x="4617720" y="2788920"/>
            <a:ext cx="2788920" cy="731520"/>
          </a:xfrm>
          <a:prstGeom prst="rect">
            <a:avLst/>
          </a:prstGeom>
          <a:noFill/>
          <a:ln/>
        </p:spPr>
        <p:txBody>
          <a:bodyPr wrap="square" lIns="0" tIns="0" rIns="0" bIns="0" rtlCol="0" anchor="b"/>
          <a:lstStyle/>
          <a:p>
            <a:pPr indent="0" marL="0">
              <a:buNone/>
            </a:pPr>
            <a:r>
              <a:rPr lang="en-US" sz="2000" b="1" dirty="0">
                <a:solidFill>
                  <a:schemeClr val="bg1"/>
                </a:solidFill>
              </a:rPr>
              <a:t>A public chain</a:t>
            </a:r>
            <a:endParaRPr lang="en-US" sz="2000" dirty="0"/>
          </a:p>
        </p:txBody>
      </p:sp>
      <p:sp>
        <p:nvSpPr>
          <p:cNvPr id="12" name="Text 8"/>
          <p:cNvSpPr txBox="1"/>
          <p:nvPr/>
        </p:nvSpPr>
        <p:spPr>
          <a:xfrm>
            <a:off x="4617720" y="3611880"/>
            <a:ext cx="2788920" cy="1143000"/>
          </a:xfrm>
          <a:prstGeom prst="rect">
            <a:avLst/>
          </a:prstGeom>
          <a:noFill/>
          <a:ln/>
        </p:spPr>
        <p:txBody>
          <a:bodyPr wrap="square" lIns="0" tIns="0" rIns="0" bIns="0" rtlCol="0" anchor="t"/>
          <a:lstStyle/>
          <a:p>
            <a:pPr indent="0" marL="0">
              <a:buNone/>
            </a:pPr>
            <a:r>
              <a:rPr lang="en-US" sz="1500" dirty="0">
                <a:solidFill>
                  <a:schemeClr val="bg2"/>
                </a:solidFill>
              </a:rPr>
              <a:t>The double pledge would show, and so would every rival's borrowers, amounts and rates.</a:t>
            </a:r>
            <a:endParaRPr lang="en-US" sz="1500" dirty="0"/>
          </a:p>
        </p:txBody>
      </p:sp>
      <p:sp>
        <p:nvSpPr>
          <p:cNvPr id="13" name="col-2"/>
          <p:cNvSpPr/>
          <p:nvPr/>
        </p:nvSpPr>
        <p:spPr>
          <a:xfrm>
            <a:off x="8046720" y="1600200"/>
            <a:ext cx="3429000" cy="3291840"/>
          </a:xfrm>
          <a:prstGeom prst="roundRect">
            <a:avLst>
              <a:gd name="adj" fmla="val 2222"/>
            </a:avLst>
          </a:prstGeom>
          <a:solidFill>
            <a:schemeClr val="tx2"/>
          </a:solidFill>
          <a:ln w="9525">
            <a:solidFill>
              <a:schemeClr val="accent1"/>
            </a:solidFill>
            <a:prstDash val="solid"/>
          </a:ln>
        </p:spPr>
      </p:sp>
      <p:sp>
        <p:nvSpPr>
          <p:cNvPr id="14" name="Shape 10"/>
          <p:cNvSpPr/>
          <p:nvPr/>
        </p:nvSpPr>
        <p:spPr>
          <a:xfrm>
            <a:off x="8366760" y="1965960"/>
            <a:ext cx="640080" cy="64008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507578" y="2106778"/>
            <a:ext cx="358445" cy="358445"/>
          </a:xfrm>
          <a:prstGeom prst="rect">
            <a:avLst/>
          </a:prstGeom>
        </p:spPr>
      </p:pic>
      <p:sp>
        <p:nvSpPr>
          <p:cNvPr id="16" name="Text 11"/>
          <p:cNvSpPr txBox="1"/>
          <p:nvPr/>
        </p:nvSpPr>
        <p:spPr>
          <a:xfrm>
            <a:off x="8366760" y="2788920"/>
            <a:ext cx="2788920" cy="731520"/>
          </a:xfrm>
          <a:prstGeom prst="rect">
            <a:avLst/>
          </a:prstGeom>
          <a:noFill/>
          <a:ln/>
        </p:spPr>
        <p:txBody>
          <a:bodyPr wrap="square" lIns="0" tIns="0" rIns="0" bIns="0" rtlCol="0" anchor="b"/>
          <a:lstStyle/>
          <a:p>
            <a:pPr indent="0" marL="0">
              <a:buNone/>
            </a:pPr>
            <a:r>
              <a:rPr lang="en-US" sz="2000" b="1" dirty="0">
                <a:solidFill>
                  <a:schemeClr val="accent1"/>
                </a:solidFill>
              </a:rPr>
              <a:t>Canton with PledgeGuard</a:t>
            </a:r>
            <a:endParaRPr lang="en-US" sz="2000" dirty="0"/>
          </a:p>
        </p:txBody>
      </p:sp>
      <p:sp>
        <p:nvSpPr>
          <p:cNvPr id="17" name="Text 12"/>
          <p:cNvSpPr txBox="1"/>
          <p:nvPr/>
        </p:nvSpPr>
        <p:spPr>
          <a:xfrm>
            <a:off x="8366760" y="3611880"/>
            <a:ext cx="2788920" cy="1143000"/>
          </a:xfrm>
          <a:prstGeom prst="rect">
            <a:avLst/>
          </a:prstGeom>
          <a:noFill/>
          <a:ln/>
        </p:spPr>
        <p:txBody>
          <a:bodyPr wrap="square" lIns="0" tIns="0" rIns="0" bIns="0" rtlCol="0" anchor="t"/>
          <a:lstStyle/>
          <a:p>
            <a:pPr indent="0" marL="0">
              <a:buNone/>
            </a:pPr>
            <a:r>
              <a:rPr lang="en-US" sz="1500" dirty="0">
                <a:solidFill>
                  <a:schemeClr val="bg2"/>
                </a:solidFill>
              </a:rPr>
              <a:t>The collision is detected while every book stays private, in the same transaction.</a:t>
            </a:r>
            <a:endParaRPr lang="en-US" sz="1500" dirty="0"/>
          </a:p>
        </p:txBody>
      </p:sp>
      <p:sp>
        <p:nvSpPr>
          <p:cNvPr id="18" name="Text 13"/>
          <p:cNvSpPr txBox="1"/>
          <p:nvPr/>
        </p:nvSpPr>
        <p:spPr>
          <a:xfrm>
            <a:off x="548640" y="5303520"/>
            <a:ext cx="10972800" cy="411480"/>
          </a:xfrm>
          <a:prstGeom prst="rect">
            <a:avLst/>
          </a:prstGeom>
          <a:noFill/>
          <a:ln/>
        </p:spPr>
        <p:txBody>
          <a:bodyPr wrap="square" lIns="0" tIns="0" rIns="0" bIns="0" rtlCol="0" anchor="t"/>
          <a:lstStyle/>
          <a:p>
            <a:pPr indent="0" marL="0">
              <a:buNone/>
            </a:pPr>
            <a:r>
              <a:rPr lang="en-US" sz="1800" i="1" dirty="0">
                <a:solidFill>
                  <a:schemeClr val="bg1"/>
                </a:solidFill>
                <a:latin typeface="Cambria" pitchFamily="34" charset="0"/>
                <a:ea typeface="Cambria" pitchFamily="34" charset="-122"/>
                <a:cs typeface="Cambria" pitchFamily="34" charset="-120"/>
              </a:rPr>
              <a:t>The product only exists if detection and confidentiality happen together.</a:t>
            </a:r>
            <a:endParaRPr lang="en-US" sz="18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Why now: fresh losses, money moving on-chain</a:t>
            </a:r>
            <a:endParaRPr lang="en-US" sz="3200" dirty="0"/>
          </a:p>
        </p:txBody>
      </p:sp>
      <p:sp>
        <p:nvSpPr>
          <p:cNvPr id="3" name="now-0"/>
          <p:cNvSpPr/>
          <p:nvPr/>
        </p:nvSpPr>
        <p:spPr>
          <a:xfrm>
            <a:off x="548640" y="1554480"/>
            <a:ext cx="5394960" cy="3383280"/>
          </a:xfrm>
          <a:prstGeom prst="roundRect">
            <a:avLst>
              <a:gd name="adj" fmla="val 2162"/>
            </a:avLst>
          </a:prstGeom>
          <a:solidFill>
            <a:schemeClr val="tx2"/>
          </a:solidFill>
          <a:ln w="9525">
            <a:solidFill>
              <a:schemeClr val="accent6"/>
            </a:solidFill>
            <a:prstDash val="solid"/>
          </a:ln>
        </p:spPr>
      </p:sp>
      <p:sp>
        <p:nvSpPr>
          <p:cNvPr id="4" name="Shape 2"/>
          <p:cNvSpPr/>
          <p:nvPr/>
        </p:nvSpPr>
        <p:spPr>
          <a:xfrm>
            <a:off x="868680" y="1920240"/>
            <a:ext cx="640080" cy="64008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1009498" y="2061058"/>
            <a:ext cx="358445" cy="358445"/>
          </a:xfrm>
          <a:prstGeom prst="rect">
            <a:avLst/>
          </a:prstGeom>
        </p:spPr>
      </p:pic>
      <p:sp>
        <p:nvSpPr>
          <p:cNvPr id="6" name="Text 3"/>
          <p:cNvSpPr txBox="1"/>
          <p:nvPr/>
        </p:nvSpPr>
        <p:spPr>
          <a:xfrm>
            <a:off x="868680" y="2743200"/>
            <a:ext cx="4754880" cy="731520"/>
          </a:xfrm>
          <a:prstGeom prst="rect">
            <a:avLst/>
          </a:prstGeom>
          <a:noFill/>
          <a:ln/>
        </p:spPr>
        <p:txBody>
          <a:bodyPr wrap="square" lIns="0" tIns="0" rIns="0" bIns="0" rtlCol="0" anchor="b"/>
          <a:lstStyle/>
          <a:p>
            <a:pPr indent="0" marL="0">
              <a:buNone/>
            </a:pPr>
            <a:r>
              <a:rPr lang="en-US" sz="1900" b="1" dirty="0">
                <a:solidFill>
                  <a:schemeClr val="bg1"/>
                </a:solidFill>
              </a:rPr>
              <a:t>Double pledging is on every credit committee's agenda</a:t>
            </a:r>
            <a:endParaRPr lang="en-US" sz="1900" dirty="0"/>
          </a:p>
        </p:txBody>
      </p:sp>
      <p:sp>
        <p:nvSpPr>
          <p:cNvPr id="7" name="Text 4"/>
          <p:cNvSpPr txBox="1"/>
          <p:nvPr/>
        </p:nvSpPr>
        <p:spPr>
          <a:xfrm>
            <a:off x="868680" y="3566160"/>
            <a:ext cx="475488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2"/>
                </a:solidFill>
              </a:rPr>
              <a:t>Tricolor: SEC charges against former executives, Aug 2026</a:t>
            </a:r>
            <a:endParaRPr lang="en-US" sz="1500" dirty="0"/>
          </a:p>
          <a:p>
            <a:pPr marL="342900" indent="-342900">
              <a:spcAft>
                <a:spcPts val="600"/>
              </a:spcAft>
              <a:buSzPct val="100000"/>
              <a:buChar char="•"/>
            </a:pPr>
            <a:r>
              <a:rPr lang="en-US" sz="1500" dirty="0">
                <a:solidFill>
                  <a:schemeClr val="bg2"/>
                </a:solidFill>
              </a:rPr>
              <a:t>First Brands: founders indicted, Jan 2026</a:t>
            </a:r>
            <a:endParaRPr lang="en-US" sz="1500" dirty="0"/>
          </a:p>
          <a:p>
            <a:pPr marL="342900" indent="-342900">
              <a:spcAft>
                <a:spcPts val="600"/>
              </a:spcAft>
              <a:buSzPct val="100000"/>
              <a:buChar char="•"/>
            </a:pPr>
            <a:r>
              <a:rPr lang="en-US" sz="1500" dirty="0">
                <a:solidFill>
                  <a:schemeClr val="bg2"/>
                </a:solidFill>
              </a:rPr>
              <a:t>Market Financial Solutions: administration, Feb 2026</a:t>
            </a:r>
            <a:endParaRPr lang="en-US" sz="1500" dirty="0"/>
          </a:p>
        </p:txBody>
      </p:sp>
      <p:sp>
        <p:nvSpPr>
          <p:cNvPr id="8" name="now-1"/>
          <p:cNvSpPr/>
          <p:nvPr/>
        </p:nvSpPr>
        <p:spPr>
          <a:xfrm>
            <a:off x="6172200" y="1554480"/>
            <a:ext cx="5394960" cy="3383280"/>
          </a:xfrm>
          <a:prstGeom prst="roundRect">
            <a:avLst>
              <a:gd name="adj" fmla="val 2162"/>
            </a:avLst>
          </a:prstGeom>
          <a:solidFill>
            <a:schemeClr val="tx2"/>
          </a:solidFill>
          <a:ln w="9525">
            <a:solidFill>
              <a:schemeClr val="accent6"/>
            </a:solidFill>
            <a:prstDash val="solid"/>
          </a:ln>
        </p:spPr>
      </p:sp>
      <p:sp>
        <p:nvSpPr>
          <p:cNvPr id="9" name="Shape 6"/>
          <p:cNvSpPr/>
          <p:nvPr/>
        </p:nvSpPr>
        <p:spPr>
          <a:xfrm>
            <a:off x="6492240" y="192024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633058" y="2061058"/>
            <a:ext cx="358445" cy="358445"/>
          </a:xfrm>
          <a:prstGeom prst="rect">
            <a:avLst/>
          </a:prstGeom>
        </p:spPr>
      </p:pic>
      <p:sp>
        <p:nvSpPr>
          <p:cNvPr id="11" name="Text 7"/>
          <p:cNvSpPr txBox="1"/>
          <p:nvPr/>
        </p:nvSpPr>
        <p:spPr>
          <a:xfrm>
            <a:off x="6492240" y="2743200"/>
            <a:ext cx="4754880" cy="731520"/>
          </a:xfrm>
          <a:prstGeom prst="rect">
            <a:avLst/>
          </a:prstGeom>
          <a:noFill/>
          <a:ln/>
        </p:spPr>
        <p:txBody>
          <a:bodyPr wrap="square" lIns="0" tIns="0" rIns="0" bIns="0" rtlCol="0" anchor="b"/>
          <a:lstStyle/>
          <a:p>
            <a:pPr indent="0" marL="0">
              <a:buNone/>
            </a:pPr>
            <a:r>
              <a:rPr lang="en-US" sz="1900" b="1" dirty="0">
                <a:solidFill>
                  <a:schemeClr val="bg1"/>
                </a:solidFill>
              </a:rPr>
              <a:t>Collateral and settlement are moving onto Canton</a:t>
            </a:r>
            <a:endParaRPr lang="en-US" sz="1900" dirty="0"/>
          </a:p>
        </p:txBody>
      </p:sp>
      <p:sp>
        <p:nvSpPr>
          <p:cNvPr id="12" name="Text 8"/>
          <p:cNvSpPr txBox="1"/>
          <p:nvPr/>
        </p:nvSpPr>
        <p:spPr>
          <a:xfrm>
            <a:off x="6492240" y="3566160"/>
            <a:ext cx="475488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2"/>
                </a:solidFill>
              </a:rPr>
              <a:t>DTCC Tokenization Service: commercial launch scheduled Oct 2026</a:t>
            </a:r>
            <a:endParaRPr lang="en-US" sz="1500" dirty="0"/>
          </a:p>
          <a:p>
            <a:pPr marL="342900" indent="-342900">
              <a:spcAft>
                <a:spcPts val="600"/>
              </a:spcAft>
              <a:buSzPct val="100000"/>
              <a:buChar char="•"/>
            </a:pPr>
            <a:r>
              <a:rPr lang="en-US" sz="1500" dirty="0">
                <a:solidFill>
                  <a:schemeClr val="bg2"/>
                </a:solidFill>
              </a:rPr>
              <a:t>Broadridge DLR runs repo on Canton every day</a:t>
            </a:r>
            <a:endParaRPr lang="en-US" sz="1500" dirty="0"/>
          </a:p>
          <a:p>
            <a:pPr marL="342900" indent="-342900">
              <a:spcAft>
                <a:spcPts val="600"/>
              </a:spcAft>
              <a:buSzPct val="100000"/>
              <a:buChar char="•"/>
            </a:pPr>
            <a:r>
              <a:rPr lang="en-US" sz="1500" dirty="0">
                <a:solidFill>
                  <a:schemeClr val="bg2"/>
                </a:solidFill>
              </a:rPr>
              <a:t>USD1 issued natively on Canton since Aug 2026</a:t>
            </a:r>
            <a:endParaRPr lang="en-US" sz="1500" dirty="0"/>
          </a:p>
        </p:txBody>
      </p:sp>
      <p:sp>
        <p:nvSpPr>
          <p:cNvPr id="13" name="Text 9"/>
          <p:cNvSpPr txBox="1"/>
          <p:nvPr/>
        </p:nvSpPr>
        <p:spPr>
          <a:xfrm>
            <a:off x="548640" y="5303520"/>
            <a:ext cx="10972800" cy="411480"/>
          </a:xfrm>
          <a:prstGeom prst="rect">
            <a:avLst/>
          </a:prstGeom>
          <a:noFill/>
          <a:ln/>
        </p:spPr>
        <p:txBody>
          <a:bodyPr wrap="square" lIns="0" tIns="0" rIns="0" bIns="0" rtlCol="0" anchor="t"/>
          <a:lstStyle/>
          <a:p>
            <a:pPr indent="0" marL="0">
              <a:buNone/>
            </a:pPr>
            <a:r>
              <a:rPr lang="en-US" sz="1900" i="1" dirty="0">
                <a:solidFill>
                  <a:schemeClr val="accent1"/>
                </a:solidFill>
                <a:latin typeface="Cambria" pitchFamily="34" charset="0"/>
                <a:ea typeface="Cambria" pitchFamily="34" charset="-122"/>
                <a:cs typeface="Cambria" pitchFamily="34" charset="-120"/>
              </a:rPr>
              <a:t>For the first time, the check and the money can live in the same transaction.</a:t>
            </a:r>
            <a:endParaRPr lang="en-US" sz="19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How PledgeGuard stops a double pledge</a:t>
            </a:r>
            <a:endParaRPr lang="en-US" sz="3200" dirty="0"/>
          </a:p>
        </p:txBody>
      </p:sp>
      <p:sp>
        <p:nvSpPr>
          <p:cNvPr id="3" name="step-0"/>
          <p:cNvSpPr/>
          <p:nvPr/>
        </p:nvSpPr>
        <p:spPr>
          <a:xfrm>
            <a:off x="548640" y="1554480"/>
            <a:ext cx="2514600" cy="2926080"/>
          </a:xfrm>
          <a:prstGeom prst="roundRect">
            <a:avLst>
              <a:gd name="adj" fmla="val 2909"/>
            </a:avLst>
          </a:prstGeom>
          <a:solidFill>
            <a:schemeClr val="tx2"/>
          </a:solidFill>
          <a:ln w="9525">
            <a:solidFill>
              <a:schemeClr val="accent6"/>
            </a:solidFill>
            <a:prstDash val="solid"/>
          </a:ln>
        </p:spPr>
      </p:sp>
      <p:sp>
        <p:nvSpPr>
          <p:cNvPr id="4" name="Text 2"/>
          <p:cNvSpPr txBox="1"/>
          <p:nvPr/>
        </p:nvSpPr>
        <p:spPr>
          <a:xfrm>
            <a:off x="822960" y="1810512"/>
            <a:ext cx="457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pic>
        <p:nvPicPr>
          <p:cNvPr id="5" name="Image 0" descr="preencoded.png">    </p:cNvPr>
          <p:cNvPicPr>
            <a:picLocks noChangeAspect="1"/>
          </p:cNvPicPr>
          <p:nvPr/>
        </p:nvPicPr>
        <p:blipFill>
          <a:blip r:embed="rId1"/>
          <a:stretch>
            <a:fillRect/>
          </a:stretch>
        </p:blipFill>
        <p:spPr>
          <a:xfrm>
            <a:off x="2286000" y="1828800"/>
            <a:ext cx="457200" cy="457200"/>
          </a:xfrm>
          <a:prstGeom prst="rect">
            <a:avLst/>
          </a:prstGeom>
        </p:spPr>
      </p:pic>
      <p:sp>
        <p:nvSpPr>
          <p:cNvPr id="6" name="Text 3"/>
          <p:cNvSpPr txBox="1"/>
          <p:nvPr/>
        </p:nvSpPr>
        <p:spPr>
          <a:xfrm>
            <a:off x="822960" y="2468880"/>
            <a:ext cx="1965960" cy="411480"/>
          </a:xfrm>
          <a:prstGeom prst="rect">
            <a:avLst/>
          </a:prstGeom>
          <a:noFill/>
          <a:ln/>
        </p:spPr>
        <p:txBody>
          <a:bodyPr wrap="square" lIns="0" tIns="0" rIns="0" bIns="0" rtlCol="0" anchor="t"/>
          <a:lstStyle/>
          <a:p>
            <a:pPr indent="0" marL="0">
              <a:buNone/>
            </a:pPr>
            <a:r>
              <a:rPr lang="en-US" sz="2000" b="1" dirty="0">
                <a:solidFill>
                  <a:schemeClr val="bg1"/>
                </a:solidFill>
              </a:rPr>
              <a:t>Register</a:t>
            </a:r>
            <a:endParaRPr lang="en-US" sz="2000" dirty="0"/>
          </a:p>
        </p:txBody>
      </p:sp>
      <p:sp>
        <p:nvSpPr>
          <p:cNvPr id="7" name="Text 4"/>
          <p:cNvSpPr txBox="1"/>
          <p:nvPr/>
        </p:nvSpPr>
        <p:spPr>
          <a:xfrm>
            <a:off x="822960" y="2926080"/>
            <a:ext cx="1965960" cy="1463040"/>
          </a:xfrm>
          <a:prstGeom prst="rect">
            <a:avLst/>
          </a:prstGeom>
          <a:noFill/>
          <a:ln/>
        </p:spPr>
        <p:txBody>
          <a:bodyPr wrap="square" lIns="0" tIns="0" rIns="0" bIns="0" rtlCol="0" anchor="t"/>
          <a:lstStyle/>
          <a:p>
            <a:pPr indent="0" marL="0">
              <a:buNone/>
            </a:pPr>
            <a:r>
              <a:rPr lang="en-US" sz="1400" dirty="0">
                <a:solidFill>
                  <a:schemeClr val="bg2"/>
                </a:solidFill>
              </a:rPr>
              <a:t>The borrower registers a fingerprint of the collateral file, computed in its browser. The file never leaves.</a:t>
            </a:r>
            <a:endParaRPr lang="en-US" sz="1400" dirty="0"/>
          </a:p>
        </p:txBody>
      </p:sp>
      <p:pic>
        <p:nvPicPr>
          <p:cNvPr id="8" name="Image 1" descr="preencoded.png">    </p:cNvPr>
          <p:cNvPicPr>
            <a:picLocks noChangeAspect="1"/>
          </p:cNvPicPr>
          <p:nvPr/>
        </p:nvPicPr>
        <p:blipFill>
          <a:blip r:embed="rId2"/>
          <a:stretch>
            <a:fillRect/>
          </a:stretch>
        </p:blipFill>
        <p:spPr>
          <a:xfrm>
            <a:off x="3090672" y="2834640"/>
            <a:ext cx="228600" cy="365760"/>
          </a:xfrm>
          <a:prstGeom prst="rect">
            <a:avLst/>
          </a:prstGeom>
        </p:spPr>
      </p:pic>
      <p:sp>
        <p:nvSpPr>
          <p:cNvPr id="9" name="step-1"/>
          <p:cNvSpPr/>
          <p:nvPr/>
        </p:nvSpPr>
        <p:spPr>
          <a:xfrm>
            <a:off x="3337560" y="1554480"/>
            <a:ext cx="2514600" cy="2926080"/>
          </a:xfrm>
          <a:prstGeom prst="roundRect">
            <a:avLst>
              <a:gd name="adj" fmla="val 2909"/>
            </a:avLst>
          </a:prstGeom>
          <a:solidFill>
            <a:schemeClr val="tx2"/>
          </a:solidFill>
          <a:ln w="9525">
            <a:solidFill>
              <a:schemeClr val="accent6"/>
            </a:solidFill>
            <a:prstDash val="solid"/>
          </a:ln>
        </p:spPr>
      </p:sp>
      <p:sp>
        <p:nvSpPr>
          <p:cNvPr id="10" name="Text 6"/>
          <p:cNvSpPr txBox="1"/>
          <p:nvPr/>
        </p:nvSpPr>
        <p:spPr>
          <a:xfrm>
            <a:off x="3611880" y="1810512"/>
            <a:ext cx="457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pic>
        <p:nvPicPr>
          <p:cNvPr id="11" name="Image 2" descr="preencoded.png">    </p:cNvPr>
          <p:cNvPicPr>
            <a:picLocks noChangeAspect="1"/>
          </p:cNvPicPr>
          <p:nvPr/>
        </p:nvPicPr>
        <p:blipFill>
          <a:blip r:embed="rId3"/>
          <a:stretch>
            <a:fillRect/>
          </a:stretch>
        </p:blipFill>
        <p:spPr>
          <a:xfrm>
            <a:off x="5074920" y="1828800"/>
            <a:ext cx="457200" cy="457200"/>
          </a:xfrm>
          <a:prstGeom prst="rect">
            <a:avLst/>
          </a:prstGeom>
        </p:spPr>
      </p:pic>
      <p:sp>
        <p:nvSpPr>
          <p:cNvPr id="12" name="Text 7"/>
          <p:cNvSpPr txBox="1"/>
          <p:nvPr/>
        </p:nvSpPr>
        <p:spPr>
          <a:xfrm>
            <a:off x="3611880" y="2468880"/>
            <a:ext cx="1965960" cy="411480"/>
          </a:xfrm>
          <a:prstGeom prst="rect">
            <a:avLst/>
          </a:prstGeom>
          <a:noFill/>
          <a:ln/>
        </p:spPr>
        <p:txBody>
          <a:bodyPr wrap="square" lIns="0" tIns="0" rIns="0" bIns="0" rtlCol="0" anchor="t"/>
          <a:lstStyle/>
          <a:p>
            <a:pPr indent="0" marL="0">
              <a:buNone/>
            </a:pPr>
            <a:r>
              <a:rPr lang="en-US" sz="2000" b="1" dirty="0">
                <a:solidFill>
                  <a:schemeClr val="bg1"/>
                </a:solidFill>
              </a:rPr>
              <a:t>Sign</a:t>
            </a:r>
            <a:endParaRPr lang="en-US" sz="2000" dirty="0"/>
          </a:p>
        </p:txBody>
      </p:sp>
      <p:sp>
        <p:nvSpPr>
          <p:cNvPr id="13" name="Text 8"/>
          <p:cNvSpPr txBox="1"/>
          <p:nvPr/>
        </p:nvSpPr>
        <p:spPr>
          <a:xfrm>
            <a:off x="3611880" y="2926080"/>
            <a:ext cx="1965960" cy="1463040"/>
          </a:xfrm>
          <a:prstGeom prst="rect">
            <a:avLst/>
          </a:prstGeom>
          <a:noFill/>
          <a:ln/>
        </p:spPr>
        <p:txBody>
          <a:bodyPr wrap="square" lIns="0" tIns="0" rIns="0" bIns="0" rtlCol="0" anchor="t"/>
          <a:lstStyle/>
          <a:p>
            <a:pPr indent="0" marL="0">
              <a:buNone/>
            </a:pPr>
            <a:r>
              <a:rPr lang="en-US" sz="1400" dirty="0">
                <a:solidFill>
                  <a:schemeClr val="bg2"/>
                </a:solidFill>
              </a:rPr>
              <a:t>Lender and borrower sign a facility. The registry is not a party to it.</a:t>
            </a:r>
            <a:endParaRPr lang="en-US" sz="1400" dirty="0"/>
          </a:p>
        </p:txBody>
      </p:sp>
      <p:pic>
        <p:nvPicPr>
          <p:cNvPr id="14" name="Image 3" descr="preencoded.png">    </p:cNvPr>
          <p:cNvPicPr>
            <a:picLocks noChangeAspect="1"/>
          </p:cNvPicPr>
          <p:nvPr/>
        </p:nvPicPr>
        <p:blipFill>
          <a:blip r:embed="rId4"/>
          <a:stretch>
            <a:fillRect/>
          </a:stretch>
        </p:blipFill>
        <p:spPr>
          <a:xfrm>
            <a:off x="5879592" y="2834640"/>
            <a:ext cx="228600" cy="365760"/>
          </a:xfrm>
          <a:prstGeom prst="rect">
            <a:avLst/>
          </a:prstGeom>
        </p:spPr>
      </p:pic>
      <p:sp>
        <p:nvSpPr>
          <p:cNvPr id="15" name="step-2"/>
          <p:cNvSpPr/>
          <p:nvPr/>
        </p:nvSpPr>
        <p:spPr>
          <a:xfrm>
            <a:off x="6126480" y="1554480"/>
            <a:ext cx="2514600" cy="2926080"/>
          </a:xfrm>
          <a:prstGeom prst="roundRect">
            <a:avLst>
              <a:gd name="adj" fmla="val 2909"/>
            </a:avLst>
          </a:prstGeom>
          <a:solidFill>
            <a:schemeClr val="tx2"/>
          </a:solidFill>
          <a:ln w="9525">
            <a:solidFill>
              <a:schemeClr val="accent6"/>
            </a:solidFill>
            <a:prstDash val="solid"/>
          </a:ln>
        </p:spPr>
      </p:sp>
      <p:sp>
        <p:nvSpPr>
          <p:cNvPr id="16" name="Text 10"/>
          <p:cNvSpPr txBox="1"/>
          <p:nvPr/>
        </p:nvSpPr>
        <p:spPr>
          <a:xfrm>
            <a:off x="6400800" y="1810512"/>
            <a:ext cx="457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pic>
        <p:nvPicPr>
          <p:cNvPr id="17" name="Image 4" descr="preencoded.png">    </p:cNvPr>
          <p:cNvPicPr>
            <a:picLocks noChangeAspect="1"/>
          </p:cNvPicPr>
          <p:nvPr/>
        </p:nvPicPr>
        <p:blipFill>
          <a:blip r:embed="rId5"/>
          <a:stretch>
            <a:fillRect/>
          </a:stretch>
        </p:blipFill>
        <p:spPr>
          <a:xfrm>
            <a:off x="7863840" y="1828800"/>
            <a:ext cx="457200" cy="457200"/>
          </a:xfrm>
          <a:prstGeom prst="rect">
            <a:avLst/>
          </a:prstGeom>
        </p:spPr>
      </p:pic>
      <p:sp>
        <p:nvSpPr>
          <p:cNvPr id="18" name="Text 11"/>
          <p:cNvSpPr txBox="1"/>
          <p:nvPr/>
        </p:nvSpPr>
        <p:spPr>
          <a:xfrm>
            <a:off x="6400800" y="2468880"/>
            <a:ext cx="1965960" cy="411480"/>
          </a:xfrm>
          <a:prstGeom prst="rect">
            <a:avLst/>
          </a:prstGeom>
          <a:noFill/>
          <a:ln/>
        </p:spPr>
        <p:txBody>
          <a:bodyPr wrap="square" lIns="0" tIns="0" rIns="0" bIns="0" rtlCol="0" anchor="t"/>
          <a:lstStyle/>
          <a:p>
            <a:pPr indent="0" marL="0">
              <a:buNone/>
            </a:pPr>
            <a:r>
              <a:rPr lang="en-US" sz="2000" b="1" dirty="0">
                <a:solidFill>
                  <a:schemeClr val="bg1"/>
                </a:solidFill>
              </a:rPr>
              <a:t>Draw</a:t>
            </a:r>
            <a:endParaRPr lang="en-US" sz="2000" dirty="0"/>
          </a:p>
        </p:txBody>
      </p:sp>
      <p:sp>
        <p:nvSpPr>
          <p:cNvPr id="19" name="Text 12"/>
          <p:cNvSpPr txBox="1"/>
          <p:nvPr/>
        </p:nvSpPr>
        <p:spPr>
          <a:xfrm>
            <a:off x="6400800" y="2926080"/>
            <a:ext cx="1965960" cy="1463040"/>
          </a:xfrm>
          <a:prstGeom prst="rect">
            <a:avLst/>
          </a:prstGeom>
          <a:noFill/>
          <a:ln/>
        </p:spPr>
        <p:txBody>
          <a:bodyPr wrap="square" lIns="0" tIns="0" rIns="0" bIns="0" rtlCol="0" anchor="t"/>
          <a:lstStyle/>
          <a:p>
            <a:pPr indent="0" marL="0">
              <a:buNone/>
            </a:pPr>
            <a:r>
              <a:rPr lang="en-US" sz="1400" dirty="0">
                <a:solidFill>
                  <a:schemeClr val="bg2"/>
                </a:solidFill>
              </a:rPr>
              <a:t>At each draw, the registry checks the fingerprint in the same Canton transaction as the payment.</a:t>
            </a:r>
            <a:endParaRPr lang="en-US" sz="1400" dirty="0"/>
          </a:p>
        </p:txBody>
      </p:sp>
      <p:pic>
        <p:nvPicPr>
          <p:cNvPr id="20" name="Image 5" descr="preencoded.png">    </p:cNvPr>
          <p:cNvPicPr>
            <a:picLocks noChangeAspect="1"/>
          </p:cNvPicPr>
          <p:nvPr/>
        </p:nvPicPr>
        <p:blipFill>
          <a:blip r:embed="rId6"/>
          <a:stretch>
            <a:fillRect/>
          </a:stretch>
        </p:blipFill>
        <p:spPr>
          <a:xfrm>
            <a:off x="8668512" y="2834640"/>
            <a:ext cx="228600" cy="365760"/>
          </a:xfrm>
          <a:prstGeom prst="rect">
            <a:avLst/>
          </a:prstGeom>
        </p:spPr>
      </p:pic>
      <p:sp>
        <p:nvSpPr>
          <p:cNvPr id="21" name="free"/>
          <p:cNvSpPr/>
          <p:nvPr/>
        </p:nvSpPr>
        <p:spPr>
          <a:xfrm>
            <a:off x="8915400" y="1554480"/>
            <a:ext cx="2727655" cy="1371600"/>
          </a:xfrm>
          <a:prstGeom prst="roundRect">
            <a:avLst>
              <a:gd name="adj" fmla="val 5333"/>
            </a:avLst>
          </a:prstGeom>
          <a:solidFill>
            <a:schemeClr val="tx2"/>
          </a:solidFill>
          <a:ln w="9525">
            <a:solidFill>
              <a:schemeClr val="accent3"/>
            </a:solidFill>
            <a:prstDash val="solid"/>
          </a:ln>
        </p:spPr>
      </p:sp>
      <p:sp>
        <p:nvSpPr>
          <p:cNvPr id="22" name="Text 14"/>
          <p:cNvSpPr txBox="1"/>
          <p:nvPr/>
        </p:nvSpPr>
        <p:spPr>
          <a:xfrm>
            <a:off x="9189720" y="1737360"/>
            <a:ext cx="2179015" cy="365760"/>
          </a:xfrm>
          <a:prstGeom prst="rect">
            <a:avLst/>
          </a:prstGeom>
          <a:noFill/>
          <a:ln/>
        </p:spPr>
        <p:txBody>
          <a:bodyPr wrap="square" lIns="0" tIns="0" rIns="0" bIns="0" rtlCol="0" anchor="t"/>
          <a:lstStyle/>
          <a:p>
            <a:pPr indent="0" marL="0">
              <a:buNone/>
            </a:pPr>
            <a:r>
              <a:rPr lang="en-US" sz="1800" b="1" dirty="0">
                <a:solidFill>
                  <a:schemeClr val="accent3"/>
                </a:solidFill>
              </a:rPr>
              <a:t>Collateral free</a:t>
            </a:r>
            <a:endParaRPr lang="en-US" sz="1800" dirty="0"/>
          </a:p>
        </p:txBody>
      </p:sp>
      <p:sp>
        <p:nvSpPr>
          <p:cNvPr id="23" name="Text 15"/>
          <p:cNvSpPr txBox="1"/>
          <p:nvPr/>
        </p:nvSpPr>
        <p:spPr>
          <a:xfrm>
            <a:off x="9189720" y="2148840"/>
            <a:ext cx="2179015" cy="640080"/>
          </a:xfrm>
          <a:prstGeom prst="rect">
            <a:avLst/>
          </a:prstGeom>
          <a:noFill/>
          <a:ln/>
        </p:spPr>
        <p:txBody>
          <a:bodyPr wrap="square" lIns="0" tIns="0" rIns="0" bIns="0" rtlCol="0" anchor="t"/>
          <a:lstStyle/>
          <a:p>
            <a:pPr indent="0" marL="0">
              <a:buNone/>
            </a:pPr>
            <a:r>
              <a:rPr lang="en-US" sz="1400" dirty="0">
                <a:solidFill>
                  <a:schemeClr val="bg2"/>
                </a:solidFill>
              </a:rPr>
              <a:t>The pledge is recorded and the coin moves.</a:t>
            </a:r>
            <a:endParaRPr lang="en-US" sz="1400" dirty="0"/>
          </a:p>
        </p:txBody>
      </p:sp>
      <p:sp>
        <p:nvSpPr>
          <p:cNvPr id="24" name="taken"/>
          <p:cNvSpPr/>
          <p:nvPr/>
        </p:nvSpPr>
        <p:spPr>
          <a:xfrm>
            <a:off x="8915400" y="3108960"/>
            <a:ext cx="2727655" cy="1371600"/>
          </a:xfrm>
          <a:prstGeom prst="roundRect">
            <a:avLst>
              <a:gd name="adj" fmla="val 5333"/>
            </a:avLst>
          </a:prstGeom>
          <a:solidFill>
            <a:schemeClr val="tx2"/>
          </a:solidFill>
          <a:ln w="9525">
            <a:solidFill>
              <a:schemeClr val="accent2"/>
            </a:solidFill>
            <a:prstDash val="solid"/>
          </a:ln>
        </p:spPr>
      </p:sp>
      <p:sp>
        <p:nvSpPr>
          <p:cNvPr id="25" name="Text 17"/>
          <p:cNvSpPr txBox="1"/>
          <p:nvPr/>
        </p:nvSpPr>
        <p:spPr>
          <a:xfrm>
            <a:off x="9189720" y="3291840"/>
            <a:ext cx="2179015" cy="365760"/>
          </a:xfrm>
          <a:prstGeom prst="rect">
            <a:avLst/>
          </a:prstGeom>
          <a:noFill/>
          <a:ln/>
        </p:spPr>
        <p:txBody>
          <a:bodyPr wrap="square" lIns="0" tIns="0" rIns="0" bIns="0" rtlCol="0" anchor="t"/>
          <a:lstStyle/>
          <a:p>
            <a:pPr indent="0" marL="0">
              <a:buNone/>
            </a:pPr>
            <a:r>
              <a:rPr lang="en-US" sz="1800" b="1" dirty="0">
                <a:solidFill>
                  <a:schemeClr val="accent2"/>
                </a:solidFill>
              </a:rPr>
              <a:t>Already pledged</a:t>
            </a:r>
            <a:endParaRPr lang="en-US" sz="1800" dirty="0"/>
          </a:p>
        </p:txBody>
      </p:sp>
      <p:sp>
        <p:nvSpPr>
          <p:cNvPr id="26" name="Text 18"/>
          <p:cNvSpPr txBox="1"/>
          <p:nvPr/>
        </p:nvSpPr>
        <p:spPr>
          <a:xfrm>
            <a:off x="9189720" y="3703320"/>
            <a:ext cx="2179015" cy="685800"/>
          </a:xfrm>
          <a:prstGeom prst="rect">
            <a:avLst/>
          </a:prstGeom>
          <a:noFill/>
          <a:ln/>
        </p:spPr>
        <p:txBody>
          <a:bodyPr wrap="square" lIns="0" tIns="0" rIns="0" bIns="0" rtlCol="0" anchor="t"/>
          <a:lstStyle/>
          <a:p>
            <a:pPr indent="0" marL="0">
              <a:buNone/>
            </a:pPr>
            <a:r>
              <a:rPr lang="en-US" sz="1400" dirty="0">
                <a:solidFill>
                  <a:schemeClr val="bg2"/>
                </a:solidFill>
              </a:rPr>
              <a:t>The draw is stopped, nothing is paid out, both lenders are alerted.</a:t>
            </a:r>
            <a:endParaRPr lang="en-US" sz="1400" dirty="0"/>
          </a:p>
        </p:txBody>
      </p:sp>
      <p:sp>
        <p:nvSpPr>
          <p:cNvPr id="27" name="Text 19"/>
          <p:cNvSpPr txBox="1"/>
          <p:nvPr/>
        </p:nvSpPr>
        <p:spPr>
          <a:xfrm>
            <a:off x="548640" y="4983480"/>
            <a:ext cx="10972800" cy="411480"/>
          </a:xfrm>
          <a:prstGeom prst="rect">
            <a:avLst/>
          </a:prstGeom>
          <a:noFill/>
          <a:ln/>
        </p:spPr>
        <p:txBody>
          <a:bodyPr wrap="square" lIns="0" tIns="0" rIns="0" bIns="0" rtlCol="0" anchor="t"/>
          <a:lstStyle/>
          <a:p>
            <a:pPr indent="0" marL="0">
              <a:buNone/>
            </a:pPr>
            <a:r>
              <a:rPr lang="en-US" sz="1800" i="1" dirty="0">
                <a:solidFill>
                  <a:schemeClr val="accent1"/>
                </a:solidFill>
                <a:latin typeface="Cambria" pitchFamily="34" charset="0"/>
                <a:ea typeface="Cambria" pitchFamily="34" charset="-122"/>
                <a:cs typeface="Cambria" pitchFamily="34" charset="-120"/>
              </a:rPr>
              <a:t>No lender learns who the other lender is. The registry sees fingerprints, never loan terms.</a:t>
            </a:r>
            <a:endParaRPr lang="en-US" sz="18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Live on Canton DevNet, with real Canton Coin</a:t>
            </a:r>
            <a:endParaRPr lang="en-US" sz="3200" dirty="0"/>
          </a:p>
        </p:txBody>
      </p:sp>
      <p:sp>
        <p:nvSpPr>
          <p:cNvPr id="3" name="Shape 1"/>
          <p:cNvSpPr/>
          <p:nvPr/>
        </p:nvSpPr>
        <p:spPr>
          <a:xfrm>
            <a:off x="548640" y="1453896"/>
            <a:ext cx="6510528" cy="3710178"/>
          </a:xfrm>
          <a:prstGeom prst="roundRect">
            <a:avLst>
              <a:gd name="adj" fmla="val 1479"/>
            </a:avLst>
          </a:prstGeom>
          <a:solidFill>
            <a:schemeClr val="tx2"/>
          </a:solidFill>
          <a:ln w="9525">
            <a:solidFill>
              <a:schemeClr val="accent1"/>
            </a:solidFill>
            <a:prstDash val="solid"/>
          </a:ln>
        </p:spPr>
      </p:sp>
      <p:pic>
        <p:nvPicPr>
          <p:cNvPr id="4" name="Image 0" descr="/home/anonnaes/Workspace/hackathon/canton/pledgeguard-pitch/img/drawA.png">    </p:cNvPr>
          <p:cNvPicPr>
            <a:picLocks noChangeAspect="1"/>
          </p:cNvPicPr>
          <p:nvPr/>
        </p:nvPicPr>
        <p:blipFill>
          <a:blip r:embed="rId1"/>
          <a:stretch>
            <a:fillRect/>
          </a:stretch>
        </p:blipFill>
        <p:spPr>
          <a:xfrm>
            <a:off x="603504" y="1508760"/>
            <a:ext cx="6400800" cy="3600450"/>
          </a:xfrm>
          <a:prstGeom prst="rect">
            <a:avLst/>
          </a:prstGeom>
        </p:spPr>
      </p:pic>
      <p:sp>
        <p:nvSpPr>
          <p:cNvPr id="5" name="Text 2"/>
          <p:cNvSpPr txBox="1"/>
          <p:nvPr/>
        </p:nvSpPr>
        <p:spPr>
          <a:xfrm>
            <a:off x="7543800" y="1463040"/>
            <a:ext cx="4099255" cy="54864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50 → 45 CC</a:t>
            </a:r>
            <a:endParaRPr lang="en-US" sz="3000" dirty="0"/>
          </a:p>
        </p:txBody>
      </p:sp>
      <p:sp>
        <p:nvSpPr>
          <p:cNvPr id="6" name="Text 3"/>
          <p:cNvSpPr txBox="1"/>
          <p:nvPr/>
        </p:nvSpPr>
        <p:spPr>
          <a:xfrm>
            <a:off x="7543800" y="2011680"/>
            <a:ext cx="4099255" cy="640080"/>
          </a:xfrm>
          <a:prstGeom prst="rect">
            <a:avLst/>
          </a:prstGeom>
          <a:noFill/>
          <a:ln/>
        </p:spPr>
        <p:txBody>
          <a:bodyPr wrap="square" lIns="0" tIns="0" rIns="0" bIns="0" rtlCol="0" anchor="t"/>
          <a:lstStyle/>
          <a:p>
            <a:pPr indent="0" marL="0">
              <a:buNone/>
            </a:pPr>
            <a:r>
              <a:rPr lang="en-US" sz="1400" dirty="0">
                <a:solidFill>
                  <a:schemeClr val="bg2"/>
                </a:solidFill>
              </a:rPr>
              <a:t>The first lender draws 5 Canton Coin: settled, pledge recorded</a:t>
            </a:r>
            <a:endParaRPr lang="en-US" sz="1400" dirty="0"/>
          </a:p>
        </p:txBody>
      </p:sp>
      <p:sp>
        <p:nvSpPr>
          <p:cNvPr id="7" name="Text 4"/>
          <p:cNvSpPr txBox="1"/>
          <p:nvPr/>
        </p:nvSpPr>
        <p:spPr>
          <a:xfrm>
            <a:off x="7543800" y="2788920"/>
            <a:ext cx="4099255"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4 CC</a:t>
            </a:r>
            <a:endParaRPr lang="en-US" sz="3000" dirty="0"/>
          </a:p>
        </p:txBody>
      </p:sp>
      <p:sp>
        <p:nvSpPr>
          <p:cNvPr id="8" name="Text 5"/>
          <p:cNvSpPr txBox="1"/>
          <p:nvPr/>
        </p:nvSpPr>
        <p:spPr>
          <a:xfrm>
            <a:off x="7543800" y="3337560"/>
            <a:ext cx="4099255" cy="640080"/>
          </a:xfrm>
          <a:prstGeom prst="rect">
            <a:avLst/>
          </a:prstGeom>
          <a:noFill/>
          <a:ln/>
        </p:spPr>
        <p:txBody>
          <a:bodyPr wrap="square" lIns="0" tIns="0" rIns="0" bIns="0" rtlCol="0" anchor="t"/>
          <a:lstStyle/>
          <a:p>
            <a:pPr indent="0" marL="0">
              <a:buNone/>
            </a:pPr>
            <a:r>
              <a:rPr lang="en-US" sz="1400" dirty="0">
                <a:solidFill>
                  <a:schemeClr val="bg2"/>
                </a:solidFill>
              </a:rPr>
              <a:t>The second lender's draw on the same collateral: reserved, never paid out, released back</a:t>
            </a:r>
            <a:endParaRPr lang="en-US" sz="1400" dirty="0"/>
          </a:p>
        </p:txBody>
      </p:sp>
      <p:sp>
        <p:nvSpPr>
          <p:cNvPr id="9" name="Text 6"/>
          <p:cNvSpPr txBox="1"/>
          <p:nvPr/>
        </p:nvSpPr>
        <p:spPr>
          <a:xfrm>
            <a:off x="7543800" y="4114800"/>
            <a:ext cx="4099255"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5 roles</a:t>
            </a:r>
            <a:endParaRPr lang="en-US" sz="3000" dirty="0"/>
          </a:p>
        </p:txBody>
      </p:sp>
      <p:sp>
        <p:nvSpPr>
          <p:cNvPr id="10" name="Text 7"/>
          <p:cNvSpPr txBox="1"/>
          <p:nvPr/>
        </p:nvSpPr>
        <p:spPr>
          <a:xfrm>
            <a:off x="7543800" y="4663440"/>
            <a:ext cx="4099255" cy="640080"/>
          </a:xfrm>
          <a:prstGeom prst="rect">
            <a:avLst/>
          </a:prstGeom>
          <a:noFill/>
          <a:ln/>
        </p:spPr>
        <p:txBody>
          <a:bodyPr wrap="square" lIns="0" tIns="0" rIns="0" bIns="0" rtlCol="0" anchor="t"/>
          <a:lstStyle/>
          <a:p>
            <a:pPr indent="0" marL="0">
              <a:buNone/>
            </a:pPr>
            <a:r>
              <a:rPr lang="en-US" sz="1400" dirty="0">
                <a:solidFill>
                  <a:schemeClr val="bg2"/>
                </a:solidFill>
              </a:rPr>
              <a:t>Borrower, two lenders, registry operator, auditor: one workspace each</a:t>
            </a:r>
            <a:endParaRPr lang="en-US" sz="1400" dirty="0"/>
          </a:p>
        </p:txBody>
      </p:sp>
      <p:sp>
        <p:nvSpPr>
          <p:cNvPr id="11" name="Text 8"/>
          <p:cNvSpPr txBox="1"/>
          <p:nvPr/>
        </p:nvSpPr>
        <p:spPr>
          <a:xfrm>
            <a:off x="548640" y="5532120"/>
            <a:ext cx="10972800" cy="320040"/>
          </a:xfrm>
          <a:prstGeom prst="rect">
            <a:avLst/>
          </a:prstGeom>
          <a:noFill/>
          <a:ln/>
        </p:spPr>
        <p:txBody>
          <a:bodyPr wrap="square" lIns="0" tIns="0" rIns="0" bIns="0" rtlCol="0" anchor="t"/>
          <a:lstStyle/>
          <a:p>
            <a:pPr indent="0" marL="0">
              <a:buNone/>
            </a:pPr>
            <a:r>
              <a:rPr lang="en-US" sz="1400" dirty="0">
                <a:solidFill>
                  <a:schemeClr val="accent1"/>
                </a:solidFill>
              </a:rPr>
              <a:t>pledgeguard.fyra.fun/app  ·  read-only Explore for anyone, a jury access code for the judges</a:t>
            </a:r>
            <a:endParaRPr lang="en-US" sz="14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A large market, priced per draw</a:t>
            </a:r>
            <a:endParaRPr lang="en-US" sz="3200" dirty="0"/>
          </a:p>
        </p:txBody>
      </p:sp>
      <p:sp>
        <p:nvSpPr>
          <p:cNvPr id="3" name="Text 1"/>
          <p:cNvSpPr txBox="1"/>
          <p:nvPr/>
        </p:nvSpPr>
        <p:spPr>
          <a:xfrm>
            <a:off x="548640" y="1600200"/>
            <a:ext cx="50292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WHO BUYS</a:t>
            </a:r>
            <a:endParaRPr lang="en-US" sz="1100" dirty="0"/>
          </a:p>
        </p:txBody>
      </p:sp>
      <p:sp>
        <p:nvSpPr>
          <p:cNvPr id="4" name="Shape 2"/>
          <p:cNvSpPr/>
          <p:nvPr/>
        </p:nvSpPr>
        <p:spPr>
          <a:xfrm>
            <a:off x="548640" y="196596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69341" y="2086661"/>
            <a:ext cx="307238" cy="307238"/>
          </a:xfrm>
          <a:prstGeom prst="rect">
            <a:avLst/>
          </a:prstGeom>
        </p:spPr>
      </p:pic>
      <p:sp>
        <p:nvSpPr>
          <p:cNvPr id="6" name="Text 3"/>
          <p:cNvSpPr txBox="1"/>
          <p:nvPr/>
        </p:nvSpPr>
        <p:spPr>
          <a:xfrm>
            <a:off x="1280160" y="2075688"/>
            <a:ext cx="4297680" cy="365760"/>
          </a:xfrm>
          <a:prstGeom prst="rect">
            <a:avLst/>
          </a:prstGeom>
          <a:noFill/>
          <a:ln/>
        </p:spPr>
        <p:txBody>
          <a:bodyPr wrap="square" lIns="0" tIns="0" rIns="0" bIns="0" rtlCol="0" anchor="t"/>
          <a:lstStyle/>
          <a:p>
            <a:pPr indent="0" marL="0">
              <a:buNone/>
            </a:pPr>
            <a:r>
              <a:rPr lang="en-US" sz="1700" b="1" dirty="0">
                <a:solidFill>
                  <a:schemeClr val="bg1"/>
                </a:solidFill>
              </a:rPr>
              <a:t>Warehouse &amp; ABL desks</a:t>
            </a:r>
            <a:endParaRPr lang="en-US" sz="1700" dirty="0"/>
          </a:p>
        </p:txBody>
      </p:sp>
      <p:sp>
        <p:nvSpPr>
          <p:cNvPr id="7" name="Shape 4"/>
          <p:cNvSpPr/>
          <p:nvPr/>
        </p:nvSpPr>
        <p:spPr>
          <a:xfrm>
            <a:off x="548640" y="2834640"/>
            <a:ext cx="548640" cy="54864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69341" y="2955341"/>
            <a:ext cx="307238" cy="307238"/>
          </a:xfrm>
          <a:prstGeom prst="rect">
            <a:avLst/>
          </a:prstGeom>
        </p:spPr>
      </p:pic>
      <p:sp>
        <p:nvSpPr>
          <p:cNvPr id="9" name="Text 5"/>
          <p:cNvSpPr txBox="1"/>
          <p:nvPr/>
        </p:nvSpPr>
        <p:spPr>
          <a:xfrm>
            <a:off x="1280160" y="2944368"/>
            <a:ext cx="4297680" cy="365760"/>
          </a:xfrm>
          <a:prstGeom prst="rect">
            <a:avLst/>
          </a:prstGeom>
          <a:noFill/>
          <a:ln/>
        </p:spPr>
        <p:txBody>
          <a:bodyPr wrap="square" lIns="0" tIns="0" rIns="0" bIns="0" rtlCol="0" anchor="t"/>
          <a:lstStyle/>
          <a:p>
            <a:pPr indent="0" marL="0">
              <a:buNone/>
            </a:pPr>
            <a:r>
              <a:rPr lang="en-US" sz="1700" b="1" dirty="0">
                <a:solidFill>
                  <a:schemeClr val="bg1"/>
                </a:solidFill>
              </a:rPr>
              <a:t>Receivables finance &amp; factoring</a:t>
            </a:r>
            <a:endParaRPr lang="en-US" sz="1700" dirty="0"/>
          </a:p>
        </p:txBody>
      </p:sp>
      <p:sp>
        <p:nvSpPr>
          <p:cNvPr id="10" name="Shape 6"/>
          <p:cNvSpPr/>
          <p:nvPr/>
        </p:nvSpPr>
        <p:spPr>
          <a:xfrm>
            <a:off x="548640" y="3703320"/>
            <a:ext cx="548640" cy="548640"/>
          </a:xfrm>
          <a:prstGeom prst="ellipse">
            <a:avLst/>
          </a:prstGeom>
          <a:solidFill>
            <a:schemeClr val="accent1"/>
          </a:solidFill>
          <a:ln w="1270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669341" y="3824021"/>
            <a:ext cx="307238" cy="307238"/>
          </a:xfrm>
          <a:prstGeom prst="rect">
            <a:avLst/>
          </a:prstGeom>
        </p:spPr>
      </p:pic>
      <p:sp>
        <p:nvSpPr>
          <p:cNvPr id="12" name="Text 7"/>
          <p:cNvSpPr txBox="1"/>
          <p:nvPr/>
        </p:nvSpPr>
        <p:spPr>
          <a:xfrm>
            <a:off x="1280160" y="3813048"/>
            <a:ext cx="4297680" cy="365760"/>
          </a:xfrm>
          <a:prstGeom prst="rect">
            <a:avLst/>
          </a:prstGeom>
          <a:noFill/>
          <a:ln/>
        </p:spPr>
        <p:txBody>
          <a:bodyPr wrap="square" lIns="0" tIns="0" rIns="0" bIns="0" rtlCol="0" anchor="t"/>
          <a:lstStyle/>
          <a:p>
            <a:pPr indent="0" marL="0">
              <a:buNone/>
            </a:pPr>
            <a:r>
              <a:rPr lang="en-US" sz="1700" b="1" dirty="0">
                <a:solidFill>
                  <a:schemeClr val="bg1"/>
                </a:solidFill>
              </a:rPr>
              <a:t>Private credit funds</a:t>
            </a:r>
            <a:endParaRPr lang="en-US" sz="1700" dirty="0"/>
          </a:p>
        </p:txBody>
      </p:sp>
      <p:sp>
        <p:nvSpPr>
          <p:cNvPr id="13" name="Text 8"/>
          <p:cNvSpPr txBox="1"/>
          <p:nvPr/>
        </p:nvSpPr>
        <p:spPr>
          <a:xfrm>
            <a:off x="548640" y="4663440"/>
            <a:ext cx="5029200" cy="365760"/>
          </a:xfrm>
          <a:prstGeom prst="rect">
            <a:avLst/>
          </a:prstGeom>
          <a:noFill/>
          <a:ln/>
        </p:spPr>
        <p:txBody>
          <a:bodyPr wrap="square" lIns="0" tIns="0" rIns="0" bIns="0" rtlCol="0" anchor="t"/>
          <a:lstStyle/>
          <a:p>
            <a:pPr indent="0" marL="0">
              <a:buNone/>
            </a:pPr>
            <a:r>
              <a:rPr lang="en-US" sz="1400" dirty="0">
                <a:solidFill>
                  <a:schemeClr val="bg2"/>
                </a:solidFill>
              </a:rPr>
              <a:t>First on Canton: Alpend, Cenote, ACME Markets.</a:t>
            </a:r>
            <a:endParaRPr lang="en-US" sz="1400" dirty="0"/>
          </a:p>
        </p:txBody>
      </p:sp>
      <p:sp>
        <p:nvSpPr>
          <p:cNvPr id="14" name="topdown"/>
          <p:cNvSpPr/>
          <p:nvPr/>
        </p:nvSpPr>
        <p:spPr>
          <a:xfrm>
            <a:off x="5897880" y="1554480"/>
            <a:ext cx="5745175" cy="1783080"/>
          </a:xfrm>
          <a:prstGeom prst="roundRect">
            <a:avLst>
              <a:gd name="adj" fmla="val 4103"/>
            </a:avLst>
          </a:prstGeom>
          <a:solidFill>
            <a:schemeClr val="tx2"/>
          </a:solidFill>
          <a:ln w="9525">
            <a:solidFill>
              <a:schemeClr val="accent6"/>
            </a:solidFill>
            <a:prstDash val="solid"/>
          </a:ln>
        </p:spPr>
      </p:sp>
      <p:sp>
        <p:nvSpPr>
          <p:cNvPr id="15" name="Text 10"/>
          <p:cNvSpPr txBox="1"/>
          <p:nvPr/>
        </p:nvSpPr>
        <p:spPr>
          <a:xfrm>
            <a:off x="6172200" y="1737360"/>
            <a:ext cx="519653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THE MONEY THAT MOVES, EVERY YEAR</a:t>
            </a:r>
            <a:endParaRPr lang="en-US" sz="1100" dirty="0"/>
          </a:p>
        </p:txBody>
      </p:sp>
      <p:sp>
        <p:nvSpPr>
          <p:cNvPr id="16" name="Text 11"/>
          <p:cNvSpPr txBox="1"/>
          <p:nvPr/>
        </p:nvSpPr>
        <p:spPr>
          <a:xfrm>
            <a:off x="6172200" y="2103120"/>
            <a:ext cx="1325880" cy="4572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€4.0T</a:t>
            </a:r>
            <a:endParaRPr lang="en-US" sz="2800" dirty="0"/>
          </a:p>
        </p:txBody>
      </p:sp>
      <p:sp>
        <p:nvSpPr>
          <p:cNvPr id="17" name="Text 12"/>
          <p:cNvSpPr txBox="1"/>
          <p:nvPr/>
        </p:nvSpPr>
        <p:spPr>
          <a:xfrm>
            <a:off x="7543800" y="2103120"/>
            <a:ext cx="3824935" cy="457200"/>
          </a:xfrm>
          <a:prstGeom prst="rect">
            <a:avLst/>
          </a:prstGeom>
          <a:noFill/>
          <a:ln/>
        </p:spPr>
        <p:txBody>
          <a:bodyPr wrap="square" lIns="0" tIns="0" rIns="0" bIns="0" rtlCol="0" anchor="ctr"/>
          <a:lstStyle/>
          <a:p>
            <a:pPr indent="0" marL="0">
              <a:buNone/>
            </a:pPr>
            <a:r>
              <a:rPr lang="en-US" sz="1400" dirty="0">
                <a:solidFill>
                  <a:schemeClr val="bg2"/>
                </a:solidFill>
              </a:rPr>
              <a:t>factored worldwide in 2025 (FCI)</a:t>
            </a:r>
            <a:endParaRPr lang="en-US" sz="1400" dirty="0"/>
          </a:p>
        </p:txBody>
      </p:sp>
      <p:sp>
        <p:nvSpPr>
          <p:cNvPr id="18" name="Text 13"/>
          <p:cNvSpPr txBox="1"/>
          <p:nvPr/>
        </p:nvSpPr>
        <p:spPr>
          <a:xfrm>
            <a:off x="6172200" y="2651760"/>
            <a:ext cx="1325880" cy="4572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$1.7T</a:t>
            </a:r>
            <a:endParaRPr lang="en-US" sz="2800" dirty="0"/>
          </a:p>
        </p:txBody>
      </p:sp>
      <p:sp>
        <p:nvSpPr>
          <p:cNvPr id="19" name="Text 14"/>
          <p:cNvSpPr txBox="1"/>
          <p:nvPr/>
        </p:nvSpPr>
        <p:spPr>
          <a:xfrm>
            <a:off x="7543800" y="2651760"/>
            <a:ext cx="3824935" cy="457200"/>
          </a:xfrm>
          <a:prstGeom prst="rect">
            <a:avLst/>
          </a:prstGeom>
          <a:noFill/>
          <a:ln/>
        </p:spPr>
        <p:txBody>
          <a:bodyPr wrap="square" lIns="0" tIns="0" rIns="0" bIns="0" rtlCol="0" anchor="ctr"/>
          <a:lstStyle/>
          <a:p>
            <a:pPr indent="0" marL="0">
              <a:buNone/>
            </a:pPr>
            <a:r>
              <a:rPr lang="en-US" sz="1400" dirty="0">
                <a:solidFill>
                  <a:schemeClr val="bg2"/>
                </a:solidFill>
              </a:rPr>
              <a:t>in private credit, moving to asset-based finance (Preqin)</a:t>
            </a:r>
            <a:endParaRPr lang="en-US" sz="1400" dirty="0"/>
          </a:p>
        </p:txBody>
      </p:sp>
      <p:sp>
        <p:nvSpPr>
          <p:cNvPr id="20" name="bottomup"/>
          <p:cNvSpPr/>
          <p:nvPr/>
        </p:nvSpPr>
        <p:spPr>
          <a:xfrm>
            <a:off x="5897880" y="3520440"/>
            <a:ext cx="5745175" cy="2331720"/>
          </a:xfrm>
          <a:prstGeom prst="roundRect">
            <a:avLst>
              <a:gd name="adj" fmla="val 3137"/>
            </a:avLst>
          </a:prstGeom>
          <a:solidFill>
            <a:schemeClr val="tx2"/>
          </a:solidFill>
          <a:ln w="9525">
            <a:solidFill>
              <a:schemeClr val="accent1"/>
            </a:solidFill>
            <a:prstDash val="solid"/>
          </a:ln>
        </p:spPr>
      </p:sp>
      <p:sp>
        <p:nvSpPr>
          <p:cNvPr id="21" name="Text 16"/>
          <p:cNvSpPr txBox="1"/>
          <p:nvPr/>
        </p:nvSpPr>
        <p:spPr>
          <a:xfrm>
            <a:off x="6172200" y="3703320"/>
            <a:ext cx="519653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BOTTOM-UP, PER LENDER</a:t>
            </a:r>
            <a:endParaRPr lang="en-US" sz="1100" dirty="0"/>
          </a:p>
        </p:txBody>
      </p:sp>
      <p:sp>
        <p:nvSpPr>
          <p:cNvPr id="22" name="Text 17"/>
          <p:cNvSpPr txBox="1"/>
          <p:nvPr/>
        </p:nvSpPr>
        <p:spPr>
          <a:xfrm>
            <a:off x="6172200" y="4023360"/>
            <a:ext cx="1325880" cy="502920"/>
          </a:xfrm>
          <a:prstGeom prst="rect">
            <a:avLst/>
          </a:prstGeom>
          <a:noFill/>
          <a:ln/>
        </p:spPr>
        <p:txBody>
          <a:bodyPr wrap="square" lIns="0" tIns="0" rIns="0" bIns="0" rtlCol="0" anchor="t"/>
          <a:lstStyle/>
          <a:p>
            <a:pPr algn="l" indent="0" marL="0">
              <a:buNone/>
            </a:pPr>
            <a:r>
              <a:rPr lang="en-US" sz="2800" b="1" dirty="0">
                <a:solidFill>
                  <a:schemeClr val="accent1"/>
                </a:solidFill>
                <a:latin typeface="Cambria" pitchFamily="34" charset="0"/>
                <a:ea typeface="Cambria" pitchFamily="34" charset="-122"/>
                <a:cs typeface="Cambria" pitchFamily="34" charset="-120"/>
              </a:rPr>
              <a:t>$2B</a:t>
            </a:r>
            <a:endParaRPr lang="en-US" sz="2800" dirty="0"/>
          </a:p>
        </p:txBody>
      </p:sp>
      <p:sp>
        <p:nvSpPr>
          <p:cNvPr id="23" name="Text 18"/>
          <p:cNvSpPr txBox="1"/>
          <p:nvPr/>
        </p:nvSpPr>
        <p:spPr>
          <a:xfrm>
            <a:off x="6172200" y="4526280"/>
            <a:ext cx="1325880" cy="457200"/>
          </a:xfrm>
          <a:prstGeom prst="rect">
            <a:avLst/>
          </a:prstGeom>
          <a:noFill/>
          <a:ln/>
        </p:spPr>
        <p:txBody>
          <a:bodyPr wrap="square" lIns="0" tIns="0" rIns="0" bIns="0" rtlCol="0" anchor="t"/>
          <a:lstStyle/>
          <a:p>
            <a:pPr indent="0" marL="0">
              <a:buNone/>
            </a:pPr>
            <a:r>
              <a:rPr lang="en-US" sz="1100" dirty="0">
                <a:solidFill>
                  <a:schemeClr val="bg2"/>
                </a:solidFill>
              </a:rPr>
              <a:t>drawn per year by a mid-size lender</a:t>
            </a:r>
            <a:endParaRPr lang="en-US" sz="1100" dirty="0"/>
          </a:p>
        </p:txBody>
      </p:sp>
      <p:sp>
        <p:nvSpPr>
          <p:cNvPr id="24" name="Text 19"/>
          <p:cNvSpPr txBox="1"/>
          <p:nvPr/>
        </p:nvSpPr>
        <p:spPr>
          <a:xfrm>
            <a:off x="7498080" y="4023360"/>
            <a:ext cx="320040" cy="502920"/>
          </a:xfrm>
          <a:prstGeom prst="rect">
            <a:avLst/>
          </a:prstGeom>
          <a:noFill/>
          <a:ln/>
        </p:spPr>
        <p:txBody>
          <a:bodyPr wrap="square" lIns="0" tIns="0" rIns="0" bIns="0" rtlCol="0" anchor="t"/>
          <a:lstStyle/>
          <a:p>
            <a:pPr algn="ctr" indent="0" marL="0">
              <a:buNone/>
            </a:pPr>
            <a:r>
              <a:rPr lang="en-US" sz="2800" b="1" dirty="0">
                <a:solidFill>
                  <a:schemeClr val="accent5"/>
                </a:solidFill>
                <a:latin typeface="Cambria" pitchFamily="34" charset="0"/>
                <a:ea typeface="Cambria" pitchFamily="34" charset="-122"/>
                <a:cs typeface="Cambria" pitchFamily="34" charset="-120"/>
              </a:rPr>
              <a:t>×</a:t>
            </a:r>
            <a:endParaRPr lang="en-US" sz="2800" dirty="0"/>
          </a:p>
        </p:txBody>
      </p:sp>
      <p:sp>
        <p:nvSpPr>
          <p:cNvPr id="25" name="Text 20"/>
          <p:cNvSpPr txBox="1"/>
          <p:nvPr/>
        </p:nvSpPr>
        <p:spPr>
          <a:xfrm>
            <a:off x="7818120" y="4023360"/>
            <a:ext cx="1097280" cy="502920"/>
          </a:xfrm>
          <a:prstGeom prst="rect">
            <a:avLst/>
          </a:prstGeom>
          <a:noFill/>
          <a:ln/>
        </p:spPr>
        <p:txBody>
          <a:bodyPr wrap="square" lIns="0" tIns="0" rIns="0" bIns="0" rtlCol="0" anchor="t"/>
          <a:lstStyle/>
          <a:p>
            <a:pPr algn="l" indent="0" marL="0">
              <a:buNone/>
            </a:pPr>
            <a:r>
              <a:rPr lang="en-US" sz="2800" b="1" dirty="0">
                <a:solidFill>
                  <a:schemeClr val="accent1"/>
                </a:solidFill>
                <a:latin typeface="Cambria" pitchFamily="34" charset="0"/>
                <a:ea typeface="Cambria" pitchFamily="34" charset="-122"/>
                <a:cs typeface="Cambria" pitchFamily="34" charset="-120"/>
              </a:rPr>
              <a:t>1 bp</a:t>
            </a:r>
            <a:endParaRPr lang="en-US" sz="2800" dirty="0"/>
          </a:p>
        </p:txBody>
      </p:sp>
      <p:sp>
        <p:nvSpPr>
          <p:cNvPr id="26" name="Text 21"/>
          <p:cNvSpPr txBox="1"/>
          <p:nvPr/>
        </p:nvSpPr>
        <p:spPr>
          <a:xfrm>
            <a:off x="7818120" y="4526280"/>
            <a:ext cx="1097280" cy="457200"/>
          </a:xfrm>
          <a:prstGeom prst="rect">
            <a:avLst/>
          </a:prstGeom>
          <a:noFill/>
          <a:ln/>
        </p:spPr>
        <p:txBody>
          <a:bodyPr wrap="square" lIns="0" tIns="0" rIns="0" bIns="0" rtlCol="0" anchor="t"/>
          <a:lstStyle/>
          <a:p>
            <a:pPr indent="0" marL="0">
              <a:buNone/>
            </a:pPr>
            <a:r>
              <a:rPr lang="en-US" sz="1100" dirty="0">
                <a:solidFill>
                  <a:schemeClr val="bg2"/>
                </a:solidFill>
              </a:rPr>
              <a:t>fee per draw</a:t>
            </a:r>
            <a:endParaRPr lang="en-US" sz="1100" dirty="0"/>
          </a:p>
        </p:txBody>
      </p:sp>
      <p:sp>
        <p:nvSpPr>
          <p:cNvPr id="27" name="Text 22"/>
          <p:cNvSpPr txBox="1"/>
          <p:nvPr/>
        </p:nvSpPr>
        <p:spPr>
          <a:xfrm>
            <a:off x="8915400" y="4023360"/>
            <a:ext cx="320040" cy="502920"/>
          </a:xfrm>
          <a:prstGeom prst="rect">
            <a:avLst/>
          </a:prstGeom>
          <a:noFill/>
          <a:ln/>
        </p:spPr>
        <p:txBody>
          <a:bodyPr wrap="square" lIns="0" tIns="0" rIns="0" bIns="0" rtlCol="0" anchor="t"/>
          <a:lstStyle/>
          <a:p>
            <a:pPr algn="ctr" indent="0" marL="0">
              <a:buNone/>
            </a:pPr>
            <a:r>
              <a:rPr lang="en-US" sz="2800" b="1" dirty="0">
                <a:solidFill>
                  <a:schemeClr val="accent5"/>
                </a:solidFill>
                <a:latin typeface="Cambria" pitchFamily="34" charset="0"/>
                <a:ea typeface="Cambria" pitchFamily="34" charset="-122"/>
                <a:cs typeface="Cambria" pitchFamily="34" charset="-120"/>
              </a:rPr>
              <a:t>=</a:t>
            </a:r>
            <a:endParaRPr lang="en-US" sz="2800" dirty="0"/>
          </a:p>
        </p:txBody>
      </p:sp>
      <p:sp>
        <p:nvSpPr>
          <p:cNvPr id="28" name="Text 23"/>
          <p:cNvSpPr txBox="1"/>
          <p:nvPr/>
        </p:nvSpPr>
        <p:spPr>
          <a:xfrm>
            <a:off x="9235440" y="4023360"/>
            <a:ext cx="1417320" cy="502920"/>
          </a:xfrm>
          <a:prstGeom prst="rect">
            <a:avLst/>
          </a:prstGeom>
          <a:noFill/>
          <a:ln/>
        </p:spPr>
        <p:txBody>
          <a:bodyPr wrap="square" lIns="0" tIns="0" rIns="0" bIns="0" rtlCol="0" anchor="t"/>
          <a:lstStyle/>
          <a:p>
            <a:pPr algn="l" indent="0" marL="0">
              <a:buNone/>
            </a:pPr>
            <a:r>
              <a:rPr lang="en-US" sz="2800" b="1" dirty="0">
                <a:solidFill>
                  <a:schemeClr val="accent3"/>
                </a:solidFill>
                <a:latin typeface="Cambria" pitchFamily="34" charset="0"/>
                <a:ea typeface="Cambria" pitchFamily="34" charset="-122"/>
                <a:cs typeface="Cambria" pitchFamily="34" charset="-120"/>
              </a:rPr>
              <a:t>$200k</a:t>
            </a:r>
            <a:endParaRPr lang="en-US" sz="2800" dirty="0"/>
          </a:p>
        </p:txBody>
      </p:sp>
      <p:sp>
        <p:nvSpPr>
          <p:cNvPr id="29" name="Text 24"/>
          <p:cNvSpPr txBox="1"/>
          <p:nvPr/>
        </p:nvSpPr>
        <p:spPr>
          <a:xfrm>
            <a:off x="9235440" y="4526280"/>
            <a:ext cx="1691640" cy="457200"/>
          </a:xfrm>
          <a:prstGeom prst="rect">
            <a:avLst/>
          </a:prstGeom>
          <a:noFill/>
          <a:ln/>
        </p:spPr>
        <p:txBody>
          <a:bodyPr wrap="square" lIns="0" tIns="0" rIns="0" bIns="0" rtlCol="0" anchor="t"/>
          <a:lstStyle/>
          <a:p>
            <a:pPr indent="0" marL="0">
              <a:buNone/>
            </a:pPr>
            <a:r>
              <a:rPr lang="en-US" sz="1100" dirty="0">
                <a:solidFill>
                  <a:schemeClr val="bg2"/>
                </a:solidFill>
              </a:rPr>
              <a:t>revenue per lender per year</a:t>
            </a:r>
            <a:endParaRPr lang="en-US" sz="1100" dirty="0"/>
          </a:p>
        </p:txBody>
      </p:sp>
      <p:sp>
        <p:nvSpPr>
          <p:cNvPr id="30" name="Text 25"/>
          <p:cNvSpPr txBox="1"/>
          <p:nvPr/>
        </p:nvSpPr>
        <p:spPr>
          <a:xfrm>
            <a:off x="6172200" y="5029200"/>
            <a:ext cx="5196535" cy="411480"/>
          </a:xfrm>
          <a:prstGeom prst="rect">
            <a:avLst/>
          </a:prstGeom>
          <a:noFill/>
          <a:ln/>
        </p:spPr>
        <p:txBody>
          <a:bodyPr wrap="square" lIns="0" tIns="0" rIns="0" bIns="0" rtlCol="0" anchor="ctr"/>
          <a:lstStyle/>
          <a:p>
            <a:pPr indent="0" marL="0">
              <a:buNone/>
            </a:pPr>
            <a:r>
              <a:rPr lang="en-US" sz="1600" dirty="0">
                <a:solidFill>
                  <a:schemeClr val="bg1"/>
                </a:solidFill>
              </a:rPr>
              <a:t>50 lenders  =  </a:t>
            </a:r>
            <a:pPr indent="0" marL="0">
              <a:buNone/>
            </a:pPr>
            <a:r>
              <a:rPr lang="en-US" sz="2400" b="1" dirty="0">
                <a:solidFill>
                  <a:schemeClr val="accent3"/>
                </a:solidFill>
                <a:latin typeface="Cambria" pitchFamily="34" charset="0"/>
                <a:ea typeface="Cambria" pitchFamily="34" charset="-122"/>
                <a:cs typeface="Cambria" pitchFamily="34" charset="-120"/>
              </a:rPr>
              <a:t>$10M</a:t>
            </a:r>
            <a:pPr indent="0" marL="0">
              <a:buNone/>
            </a:pPr>
            <a:r>
              <a:rPr lang="en-US" sz="1600" dirty="0">
                <a:solidFill>
                  <a:schemeClr val="bg1"/>
                </a:solidFill>
              </a:rPr>
              <a:t>  a year</a:t>
            </a:r>
            <a:endParaRPr lang="en-US" sz="1500" dirty="0"/>
          </a:p>
        </p:txBody>
      </p:sp>
      <p:sp>
        <p:nvSpPr>
          <p:cNvPr id="31" name="Text 26"/>
          <p:cNvSpPr txBox="1"/>
          <p:nvPr/>
        </p:nvSpPr>
        <p:spPr>
          <a:xfrm>
            <a:off x="6172200" y="5486400"/>
            <a:ext cx="5196535" cy="274320"/>
          </a:xfrm>
          <a:prstGeom prst="rect">
            <a:avLst/>
          </a:prstGeom>
          <a:noFill/>
          <a:ln/>
        </p:spPr>
        <p:txBody>
          <a:bodyPr wrap="square" lIns="0" tIns="0" rIns="0" bIns="0" rtlCol="0" anchor="t"/>
          <a:lstStyle/>
          <a:p>
            <a:pPr indent="0" marL="0">
              <a:buNone/>
            </a:pPr>
            <a:r>
              <a:rPr lang="en-US" sz="1100" i="1" dirty="0">
                <a:solidFill>
                  <a:schemeClr val="accent5"/>
                </a:solidFill>
              </a:rPr>
              <a:t>Illustrative assumptions, to validate with the first pilots.</a:t>
            </a:r>
            <a:endParaRPr lang="en-US" sz="11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The lender pays per draw, inside the settlement</a:t>
            </a:r>
            <a:endParaRPr lang="en-US" sz="3200" dirty="0"/>
          </a:p>
        </p:txBody>
      </p:sp>
      <p:sp>
        <p:nvSpPr>
          <p:cNvPr id="3" name="model-0"/>
          <p:cNvSpPr/>
          <p:nvPr/>
        </p:nvSpPr>
        <p:spPr>
          <a:xfrm>
            <a:off x="548640" y="1554480"/>
            <a:ext cx="3429000" cy="3017520"/>
          </a:xfrm>
          <a:prstGeom prst="roundRect">
            <a:avLst>
              <a:gd name="adj" fmla="val 2424"/>
            </a:avLst>
          </a:prstGeom>
          <a:solidFill>
            <a:schemeClr val="tx2"/>
          </a:solidFill>
          <a:ln w="9525">
            <a:solidFill>
              <a:schemeClr val="accent1"/>
            </a:solidFill>
            <a:prstDash val="solid"/>
          </a:ln>
        </p:spPr>
      </p:sp>
      <p:sp>
        <p:nvSpPr>
          <p:cNvPr id="4" name="Shape 2"/>
          <p:cNvSpPr/>
          <p:nvPr/>
        </p:nvSpPr>
        <p:spPr>
          <a:xfrm>
            <a:off x="868680" y="192024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09498" y="2061058"/>
            <a:ext cx="358445" cy="358445"/>
          </a:xfrm>
          <a:prstGeom prst="rect">
            <a:avLst/>
          </a:prstGeom>
        </p:spPr>
      </p:pic>
      <p:sp>
        <p:nvSpPr>
          <p:cNvPr id="6" name="Text 3"/>
          <p:cNvSpPr txBox="1"/>
          <p:nvPr/>
        </p:nvSpPr>
        <p:spPr>
          <a:xfrm>
            <a:off x="868680" y="2743200"/>
            <a:ext cx="2788920" cy="411480"/>
          </a:xfrm>
          <a:prstGeom prst="rect">
            <a:avLst/>
          </a:prstGeom>
          <a:noFill/>
          <a:ln/>
        </p:spPr>
        <p:txBody>
          <a:bodyPr wrap="square" lIns="0" tIns="0" rIns="0" bIns="0" rtlCol="0" anchor="t"/>
          <a:lstStyle/>
          <a:p>
            <a:pPr indent="0" marL="0">
              <a:buNone/>
            </a:pPr>
            <a:r>
              <a:rPr lang="en-US" sz="2000" b="1" dirty="0">
                <a:solidFill>
                  <a:schemeClr val="bg1"/>
                </a:solidFill>
              </a:rPr>
              <a:t>Per-draw fee</a:t>
            </a:r>
            <a:endParaRPr lang="en-US" sz="2000" dirty="0"/>
          </a:p>
        </p:txBody>
      </p:sp>
      <p:sp>
        <p:nvSpPr>
          <p:cNvPr id="7" name="Text 4"/>
          <p:cNvSpPr txBox="1"/>
          <p:nvPr/>
        </p:nvSpPr>
        <p:spPr>
          <a:xfrm>
            <a:off x="868680" y="3246120"/>
            <a:ext cx="2788920" cy="1188720"/>
          </a:xfrm>
          <a:prstGeom prst="rect">
            <a:avLst/>
          </a:prstGeom>
          <a:noFill/>
          <a:ln/>
        </p:spPr>
        <p:txBody>
          <a:bodyPr wrap="square" lIns="0" tIns="0" rIns="0" bIns="0" rtlCol="0" anchor="t"/>
          <a:lstStyle/>
          <a:p>
            <a:pPr indent="0" marL="0">
              <a:buNone/>
            </a:pPr>
            <a:r>
              <a:rPr lang="en-US" sz="1500" dirty="0">
                <a:solidFill>
                  <a:schemeClr val="bg2"/>
                </a:solidFill>
              </a:rPr>
              <a:t>A few basis points of each draw, taken inside the same settlement transaction: no invoice, no collection.</a:t>
            </a:r>
            <a:endParaRPr lang="en-US" sz="1500" dirty="0"/>
          </a:p>
        </p:txBody>
      </p:sp>
      <p:sp>
        <p:nvSpPr>
          <p:cNvPr id="8" name="model-1"/>
          <p:cNvSpPr/>
          <p:nvPr/>
        </p:nvSpPr>
        <p:spPr>
          <a:xfrm>
            <a:off x="4297680" y="1554480"/>
            <a:ext cx="3429000" cy="3017520"/>
          </a:xfrm>
          <a:prstGeom prst="roundRect">
            <a:avLst>
              <a:gd name="adj" fmla="val 2424"/>
            </a:avLst>
          </a:prstGeom>
          <a:solidFill>
            <a:schemeClr val="tx2"/>
          </a:solidFill>
          <a:ln w="9525">
            <a:solidFill>
              <a:schemeClr val="accent6"/>
            </a:solidFill>
            <a:prstDash val="solid"/>
          </a:ln>
        </p:spPr>
      </p:sp>
      <p:sp>
        <p:nvSpPr>
          <p:cNvPr id="9" name="Shape 6"/>
          <p:cNvSpPr/>
          <p:nvPr/>
        </p:nvSpPr>
        <p:spPr>
          <a:xfrm>
            <a:off x="4617720" y="192024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4758538" y="2061058"/>
            <a:ext cx="358445" cy="358445"/>
          </a:xfrm>
          <a:prstGeom prst="rect">
            <a:avLst/>
          </a:prstGeom>
        </p:spPr>
      </p:pic>
      <p:sp>
        <p:nvSpPr>
          <p:cNvPr id="11" name="Text 7"/>
          <p:cNvSpPr txBox="1"/>
          <p:nvPr/>
        </p:nvSpPr>
        <p:spPr>
          <a:xfrm>
            <a:off x="4617720" y="2743200"/>
            <a:ext cx="2788920" cy="411480"/>
          </a:xfrm>
          <a:prstGeom prst="rect">
            <a:avLst/>
          </a:prstGeom>
          <a:noFill/>
          <a:ln/>
        </p:spPr>
        <p:txBody>
          <a:bodyPr wrap="square" lIns="0" tIns="0" rIns="0" bIns="0" rtlCol="0" anchor="t"/>
          <a:lstStyle/>
          <a:p>
            <a:pPr indent="0" marL="0">
              <a:buNone/>
            </a:pPr>
            <a:r>
              <a:rPr lang="en-US" sz="2000" b="1" dirty="0">
                <a:solidFill>
                  <a:schemeClr val="bg1"/>
                </a:solidFill>
              </a:rPr>
              <a:t>Annual membership</a:t>
            </a:r>
            <a:endParaRPr lang="en-US" sz="2000" dirty="0"/>
          </a:p>
        </p:txBody>
      </p:sp>
      <p:sp>
        <p:nvSpPr>
          <p:cNvPr id="12" name="Text 8"/>
          <p:cNvSpPr txBox="1"/>
          <p:nvPr/>
        </p:nvSpPr>
        <p:spPr>
          <a:xfrm>
            <a:off x="4617720" y="3246120"/>
            <a:ext cx="2788920" cy="1188720"/>
          </a:xfrm>
          <a:prstGeom prst="rect">
            <a:avLst/>
          </a:prstGeom>
          <a:noFill/>
          <a:ln/>
        </p:spPr>
        <p:txBody>
          <a:bodyPr wrap="square" lIns="0" tIns="0" rIns="0" bIns="0" rtlCol="0" anchor="t"/>
          <a:lstStyle/>
          <a:p>
            <a:pPr indent="0" marL="0">
              <a:buNone/>
            </a:pPr>
            <a:r>
              <a:rPr lang="en-US" sz="1500" dirty="0">
                <a:solidFill>
                  <a:schemeClr val="bg2"/>
                </a:solidFill>
              </a:rPr>
              <a:t>Paid by participating lenders for access to the registry and its tooling.</a:t>
            </a:r>
            <a:endParaRPr lang="en-US" sz="1500" dirty="0"/>
          </a:p>
        </p:txBody>
      </p:sp>
      <p:sp>
        <p:nvSpPr>
          <p:cNvPr id="13" name="model-2"/>
          <p:cNvSpPr/>
          <p:nvPr/>
        </p:nvSpPr>
        <p:spPr>
          <a:xfrm>
            <a:off x="8046720" y="1554480"/>
            <a:ext cx="3429000" cy="3017520"/>
          </a:xfrm>
          <a:prstGeom prst="roundRect">
            <a:avLst>
              <a:gd name="adj" fmla="val 2424"/>
            </a:avLst>
          </a:prstGeom>
          <a:solidFill>
            <a:schemeClr val="tx2"/>
          </a:solidFill>
          <a:ln w="9525">
            <a:solidFill>
              <a:schemeClr val="accent6"/>
            </a:solidFill>
            <a:prstDash val="solid"/>
          </a:ln>
        </p:spPr>
      </p:sp>
      <p:sp>
        <p:nvSpPr>
          <p:cNvPr id="14" name="Shape 10"/>
          <p:cNvSpPr/>
          <p:nvPr/>
        </p:nvSpPr>
        <p:spPr>
          <a:xfrm>
            <a:off x="8366760" y="1920240"/>
            <a:ext cx="640080" cy="64008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507578" y="2061058"/>
            <a:ext cx="358445" cy="358445"/>
          </a:xfrm>
          <a:prstGeom prst="rect">
            <a:avLst/>
          </a:prstGeom>
        </p:spPr>
      </p:pic>
      <p:sp>
        <p:nvSpPr>
          <p:cNvPr id="16" name="Text 11"/>
          <p:cNvSpPr txBox="1"/>
          <p:nvPr/>
        </p:nvSpPr>
        <p:spPr>
          <a:xfrm>
            <a:off x="8366760" y="2743200"/>
            <a:ext cx="2788920" cy="411480"/>
          </a:xfrm>
          <a:prstGeom prst="rect">
            <a:avLst/>
          </a:prstGeom>
          <a:noFill/>
          <a:ln/>
        </p:spPr>
        <p:txBody>
          <a:bodyPr wrap="square" lIns="0" tIns="0" rIns="0" bIns="0" rtlCol="0" anchor="t"/>
          <a:lstStyle/>
          <a:p>
            <a:pPr indent="0" marL="0">
              <a:buNone/>
            </a:pPr>
            <a:r>
              <a:rPr lang="en-US" sz="2000" b="1" dirty="0">
                <a:solidFill>
                  <a:schemeClr val="bg1"/>
                </a:solidFill>
              </a:rPr>
              <a:t>Members share fees</a:t>
            </a:r>
            <a:endParaRPr lang="en-US" sz="2000" dirty="0"/>
          </a:p>
        </p:txBody>
      </p:sp>
      <p:sp>
        <p:nvSpPr>
          <p:cNvPr id="17" name="Text 12"/>
          <p:cNvSpPr txBox="1"/>
          <p:nvPr/>
        </p:nvSpPr>
        <p:spPr>
          <a:xfrm>
            <a:off x="8366760" y="3246120"/>
            <a:ext cx="2788920" cy="1188720"/>
          </a:xfrm>
          <a:prstGeom prst="rect">
            <a:avLst/>
          </a:prstGeom>
          <a:noFill/>
          <a:ln/>
        </p:spPr>
        <p:txBody>
          <a:bodyPr wrap="square" lIns="0" tIns="0" rIns="0" bIns="0" rtlCol="0" anchor="t"/>
          <a:lstStyle/>
          <a:p>
            <a:pPr indent="0" marL="0">
              <a:buNone/>
            </a:pPr>
            <a:r>
              <a:rPr lang="en-US" sz="1500" dirty="0">
                <a:solidFill>
                  <a:schemeClr val="bg2"/>
                </a:solidFill>
              </a:rPr>
              <a:t>A share of the fees for hosting the decentralized party: BitSafe, NODERS and PledgeGuard.</a:t>
            </a:r>
            <a:endParaRPr lang="en-US" sz="1500" dirty="0"/>
          </a:p>
        </p:txBody>
      </p:sp>
      <p:sp>
        <p:nvSpPr>
          <p:cNvPr id="18" name="Text 13"/>
          <p:cNvSpPr txBox="1"/>
          <p:nvPr/>
        </p:nvSpPr>
        <p:spPr>
          <a:xfrm>
            <a:off x="548640" y="4983480"/>
            <a:ext cx="10972800" cy="640080"/>
          </a:xfrm>
          <a:prstGeom prst="rect">
            <a:avLst/>
          </a:prstGeom>
          <a:noFill/>
          <a:ln/>
        </p:spPr>
        <p:txBody>
          <a:bodyPr wrap="square" lIns="0" tIns="0" rIns="0" bIns="0" rtlCol="0" anchor="t"/>
          <a:lstStyle/>
          <a:p>
            <a:pPr indent="0" marL="0">
              <a:buNone/>
            </a:pPr>
            <a:r>
              <a:rPr lang="en-US" sz="1800" i="1" dirty="0">
                <a:solidFill>
                  <a:schemeClr val="accent1"/>
                </a:solidFill>
                <a:latin typeface="Cambria" pitchFamily="34" charset="0"/>
                <a:ea typeface="Cambria" pitchFamily="34" charset="-122"/>
                <a:cs typeface="Cambria" pitchFamily="34" charset="-120"/>
              </a:rPr>
              <a:t>Why the lender pays: it is the party that avoids the loss, and it already pays for diligence that cannot see other lenders.</a:t>
            </a:r>
            <a:endParaRPr lang="en-US" sz="18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What we have proven</a:t>
            </a:r>
            <a:endParaRPr lang="en-US" sz="3200" dirty="0"/>
          </a:p>
        </p:txBody>
      </p:sp>
      <p:sp>
        <p:nvSpPr>
          <p:cNvPr id="3" name="proof-0"/>
          <p:cNvSpPr/>
          <p:nvPr/>
        </p:nvSpPr>
        <p:spPr>
          <a:xfrm>
            <a:off x="548640" y="1600200"/>
            <a:ext cx="2578608" cy="2834640"/>
          </a:xfrm>
          <a:prstGeom prst="roundRect">
            <a:avLst>
              <a:gd name="adj" fmla="val 2837"/>
            </a:avLst>
          </a:prstGeom>
          <a:solidFill>
            <a:schemeClr val="tx2"/>
          </a:solidFill>
          <a:ln w="9525">
            <a:solidFill>
              <a:schemeClr val="accent6"/>
            </a:solidFill>
            <a:prstDash val="solid"/>
          </a:ln>
        </p:spPr>
      </p:sp>
      <p:sp>
        <p:nvSpPr>
          <p:cNvPr id="4" name="Text 2"/>
          <p:cNvSpPr txBox="1"/>
          <p:nvPr/>
        </p:nvSpPr>
        <p:spPr>
          <a:xfrm>
            <a:off x="822960" y="1874520"/>
            <a:ext cx="2029968"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24</a:t>
            </a:r>
            <a:endParaRPr lang="en-US" sz="4800" dirty="0"/>
          </a:p>
        </p:txBody>
      </p:sp>
      <p:sp>
        <p:nvSpPr>
          <p:cNvPr id="5" name="Text 3"/>
          <p:cNvSpPr txBox="1"/>
          <p:nvPr/>
        </p:nvSpPr>
        <p:spPr>
          <a:xfrm>
            <a:off x="822960" y="2834640"/>
            <a:ext cx="2029968" cy="1463040"/>
          </a:xfrm>
          <a:prstGeom prst="rect">
            <a:avLst/>
          </a:prstGeom>
          <a:noFill/>
          <a:ln/>
        </p:spPr>
        <p:txBody>
          <a:bodyPr wrap="square" lIns="0" tIns="0" rIns="0" bIns="0" rtlCol="0" anchor="t"/>
          <a:lstStyle/>
          <a:p>
            <a:pPr indent="0" marL="0">
              <a:buNone/>
            </a:pPr>
            <a:r>
              <a:rPr lang="en-US" sz="1400" dirty="0">
                <a:solidFill>
                  <a:schemeClr val="bg2"/>
                </a:solidFill>
              </a:rPr>
              <a:t>transactions in the Daml test suite, every privacy assertion green</a:t>
            </a:r>
            <a:endParaRPr lang="en-US" sz="1400" dirty="0"/>
          </a:p>
        </p:txBody>
      </p:sp>
      <p:sp>
        <p:nvSpPr>
          <p:cNvPr id="6" name="proof-1"/>
          <p:cNvSpPr/>
          <p:nvPr/>
        </p:nvSpPr>
        <p:spPr>
          <a:xfrm>
            <a:off x="3355848" y="1600200"/>
            <a:ext cx="2578608" cy="2834640"/>
          </a:xfrm>
          <a:prstGeom prst="roundRect">
            <a:avLst>
              <a:gd name="adj" fmla="val 2837"/>
            </a:avLst>
          </a:prstGeom>
          <a:solidFill>
            <a:schemeClr val="tx2"/>
          </a:solidFill>
          <a:ln w="9525">
            <a:solidFill>
              <a:schemeClr val="accent6"/>
            </a:solidFill>
            <a:prstDash val="solid"/>
          </a:ln>
        </p:spPr>
      </p:sp>
      <p:sp>
        <p:nvSpPr>
          <p:cNvPr id="7" name="Text 5"/>
          <p:cNvSpPr txBox="1"/>
          <p:nvPr/>
        </p:nvSpPr>
        <p:spPr>
          <a:xfrm>
            <a:off x="3630168" y="1874520"/>
            <a:ext cx="2029968"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3</a:t>
            </a:r>
            <a:endParaRPr lang="en-US" sz="4800" dirty="0"/>
          </a:p>
        </p:txBody>
      </p:sp>
      <p:sp>
        <p:nvSpPr>
          <p:cNvPr id="8" name="Text 6"/>
          <p:cNvSpPr txBox="1"/>
          <p:nvPr/>
        </p:nvSpPr>
        <p:spPr>
          <a:xfrm>
            <a:off x="3630168" y="2834640"/>
            <a:ext cx="2029968" cy="1463040"/>
          </a:xfrm>
          <a:prstGeom prst="rect">
            <a:avLst/>
          </a:prstGeom>
          <a:noFill/>
          <a:ln/>
        </p:spPr>
        <p:txBody>
          <a:bodyPr wrap="square" lIns="0" tIns="0" rIns="0" bIns="0" rtlCol="0" anchor="t"/>
          <a:lstStyle/>
          <a:p>
            <a:pPr indent="0" marL="0">
              <a:buNone/>
            </a:pPr>
            <a:r>
              <a:rPr lang="en-US" sz="1400" dirty="0">
                <a:solidFill>
                  <a:schemeClr val="bg2"/>
                </a:solidFill>
              </a:rPr>
              <a:t>Canton participants: 2-of-3 vote executed, a single approval refused</a:t>
            </a:r>
            <a:endParaRPr lang="en-US" sz="1400" dirty="0"/>
          </a:p>
        </p:txBody>
      </p:sp>
      <p:sp>
        <p:nvSpPr>
          <p:cNvPr id="9" name="proof-2"/>
          <p:cNvSpPr/>
          <p:nvPr/>
        </p:nvSpPr>
        <p:spPr>
          <a:xfrm>
            <a:off x="6163056" y="1600200"/>
            <a:ext cx="2578608" cy="2834640"/>
          </a:xfrm>
          <a:prstGeom prst="roundRect">
            <a:avLst>
              <a:gd name="adj" fmla="val 2837"/>
            </a:avLst>
          </a:prstGeom>
          <a:solidFill>
            <a:schemeClr val="tx2"/>
          </a:solidFill>
          <a:ln w="9525">
            <a:solidFill>
              <a:schemeClr val="accent6"/>
            </a:solidFill>
            <a:prstDash val="solid"/>
          </a:ln>
        </p:spPr>
      </p:sp>
      <p:sp>
        <p:nvSpPr>
          <p:cNvPr id="10" name="Text 8"/>
          <p:cNvSpPr txBox="1"/>
          <p:nvPr/>
        </p:nvSpPr>
        <p:spPr>
          <a:xfrm>
            <a:off x="6437376" y="1874520"/>
            <a:ext cx="2029968"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Live</a:t>
            </a:r>
            <a:endParaRPr lang="en-US" sz="4800" dirty="0"/>
          </a:p>
        </p:txBody>
      </p:sp>
      <p:sp>
        <p:nvSpPr>
          <p:cNvPr id="11" name="Text 9"/>
          <p:cNvSpPr txBox="1"/>
          <p:nvPr/>
        </p:nvSpPr>
        <p:spPr>
          <a:xfrm>
            <a:off x="6437376" y="2834640"/>
            <a:ext cx="2029968" cy="1463040"/>
          </a:xfrm>
          <a:prstGeom prst="rect">
            <a:avLst/>
          </a:prstGeom>
          <a:noFill/>
          <a:ln/>
        </p:spPr>
        <p:txBody>
          <a:bodyPr wrap="square" lIns="0" tIns="0" rIns="0" bIns="0" rtlCol="0" anchor="t"/>
          <a:lstStyle/>
          <a:p>
            <a:pPr indent="0" marL="0">
              <a:buNone/>
            </a:pPr>
            <a:r>
              <a:rPr lang="en-US" sz="1400" dirty="0">
                <a:solidFill>
                  <a:schemeClr val="bg2"/>
                </a:solidFill>
              </a:rPr>
              <a:t>on DevNet: register, sign, draw, stop, release, with real Canton Coin</a:t>
            </a:r>
            <a:endParaRPr lang="en-US" sz="1400" dirty="0"/>
          </a:p>
        </p:txBody>
      </p:sp>
      <p:sp>
        <p:nvSpPr>
          <p:cNvPr id="12" name="proof-3"/>
          <p:cNvSpPr/>
          <p:nvPr/>
        </p:nvSpPr>
        <p:spPr>
          <a:xfrm>
            <a:off x="8970264" y="1600200"/>
            <a:ext cx="2578608" cy="2834640"/>
          </a:xfrm>
          <a:prstGeom prst="roundRect">
            <a:avLst>
              <a:gd name="adj" fmla="val 2837"/>
            </a:avLst>
          </a:prstGeom>
          <a:solidFill>
            <a:schemeClr val="tx2"/>
          </a:solidFill>
          <a:ln w="9525">
            <a:solidFill>
              <a:schemeClr val="accent6"/>
            </a:solidFill>
            <a:prstDash val="solid"/>
          </a:ln>
        </p:spPr>
      </p:sp>
      <p:sp>
        <p:nvSpPr>
          <p:cNvPr id="13" name="Text 11"/>
          <p:cNvSpPr txBox="1"/>
          <p:nvPr/>
        </p:nvSpPr>
        <p:spPr>
          <a:xfrm>
            <a:off x="9244584" y="1874520"/>
            <a:ext cx="2029968"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a:t>
            </a:r>
            <a:endParaRPr lang="en-US" sz="4800" dirty="0"/>
          </a:p>
        </p:txBody>
      </p:sp>
      <p:sp>
        <p:nvSpPr>
          <p:cNvPr id="14" name="Text 12"/>
          <p:cNvSpPr txBox="1"/>
          <p:nvPr/>
        </p:nvSpPr>
        <p:spPr>
          <a:xfrm>
            <a:off x="9244584" y="2834640"/>
            <a:ext cx="2029968" cy="1463040"/>
          </a:xfrm>
          <a:prstGeom prst="rect">
            <a:avLst/>
          </a:prstGeom>
          <a:noFill/>
          <a:ln/>
        </p:spPr>
        <p:txBody>
          <a:bodyPr wrap="square" lIns="0" tIns="0" rIns="0" bIns="0" rtlCol="0" anchor="t"/>
          <a:lstStyle/>
          <a:p>
            <a:pPr indent="0" marL="0">
              <a:buNone/>
            </a:pPr>
            <a:r>
              <a:rPr lang="en-US" sz="1400" dirty="0">
                <a:solidFill>
                  <a:schemeClr val="bg2"/>
                </a:solidFill>
              </a:rPr>
              <a:t>bypass found by our own review and fixed: re-registering a pledged file</a:t>
            </a:r>
            <a:endParaRPr lang="en-US" sz="1400" dirty="0"/>
          </a:p>
        </p:txBody>
      </p:sp>
      <p:sp>
        <p:nvSpPr>
          <p:cNvPr id="15" name="Text 13"/>
          <p:cNvSpPr txBox="1"/>
          <p:nvPr/>
        </p:nvSpPr>
        <p:spPr>
          <a:xfrm>
            <a:off x="548640" y="4846320"/>
            <a:ext cx="10972800" cy="411480"/>
          </a:xfrm>
          <a:prstGeom prst="rect">
            <a:avLst/>
          </a:prstGeom>
          <a:noFill/>
          <a:ln/>
        </p:spPr>
        <p:txBody>
          <a:bodyPr wrap="square" lIns="0" tIns="0" rIns="0" bIns="0" rtlCol="0" anchor="t"/>
          <a:lstStyle/>
          <a:p>
            <a:pPr indent="0" marL="0">
              <a:buNone/>
            </a:pPr>
            <a:r>
              <a:rPr lang="en-US" sz="1700" i="1" dirty="0">
                <a:solidFill>
                  <a:schemeClr val="accent1"/>
                </a:solidFill>
                <a:latin typeface="Cambria" pitchFamily="34" charset="0"/>
                <a:ea typeface="Cambria" pitchFamily="34" charset="-122"/>
                <a:cs typeface="Cambria" pitchFamily="34" charset="-120"/>
              </a:rPr>
              <a:t>Every number on screen in the video and on the platform carries its ledger update id and offset.</a:t>
            </a:r>
            <a:endParaRPr lang="en-US" sz="17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Not another lookup: a check enforced at settlement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044952"/>
                <a:gridCol w="2011680"/>
                <a:gridCol w="2194560"/>
                <a:gridCol w="1828800"/>
                <a:gridCol w="2014423"/>
              </a:tblGrid>
              <a:tr h="749808">
                <a:tc>
                  <a:txBody>
                    <a:bodyPr/>
                    <a:lstStyle/>
                    <a:p>
                      <a:pPr indent="0" marL="0">
                        <a:buNone/>
                      </a:pPr>
                      <a:endParaRPr lang="en-US" sz="12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Borrower reps &amp; UCC searches</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Central registry (MonetaGo-style)</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Public chain</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PledgeGuard</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r>
              <a:tr h="74980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Sees across lenders</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r h="74980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Keeps every lender's book private</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r h="74980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Stops the funding itself</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200" dirty="0">
                          <a:solidFill>
                            <a:schemeClr val="bg2"/>
                          </a:solidFill>
                          <a:latin typeface="Calibri" pitchFamily="34" charset="0"/>
                          <a:ea typeface="Calibri" pitchFamily="34" charset="-122"/>
                          <a:cs typeface="Calibri" pitchFamily="34" charset="-120"/>
                        </a:rPr>
                        <a:t>advises before funding</a:t>
                      </a:r>
                      <a:endParaRPr lang="en-US" sz="12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200" dirty="0">
                          <a:solidFill>
                            <a:schemeClr val="bg2"/>
                          </a:solidFill>
                          <a:latin typeface="Calibri" pitchFamily="34" charset="0"/>
                          <a:ea typeface="Calibri" pitchFamily="34" charset="-122"/>
                          <a:cs typeface="Calibri" pitchFamily="34" charset="-120"/>
                        </a:rPr>
                        <a:t>only if built in</a:t>
                      </a:r>
                      <a:endParaRPr lang="en-US" sz="12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r h="74980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No single operator to trust</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200" dirty="0">
                          <a:solidFill>
                            <a:schemeClr val="bg2"/>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accent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bl>
          </a:graphicData>
        </a:graphic>
      </p:graphicFrame>
      <p:sp>
        <p:nvSpPr>
          <p:cNvPr id="4" name="Text 1"/>
          <p:cNvSpPr txBox="1"/>
          <p:nvPr/>
        </p:nvSpPr>
        <p:spPr>
          <a:xfrm>
            <a:off x="548640" y="5532120"/>
            <a:ext cx="10972800" cy="640080"/>
          </a:xfrm>
          <a:prstGeom prst="rect">
            <a:avLst/>
          </a:prstGeom>
          <a:noFill/>
          <a:ln/>
        </p:spPr>
        <p:txBody>
          <a:bodyPr wrap="square" lIns="0" tIns="0" rIns="0" bIns="0" rtlCol="0" anchor="t"/>
          <a:lstStyle/>
          <a:p>
            <a:pPr indent="0" marL="0">
              <a:buNone/>
            </a:pPr>
            <a:r>
              <a:rPr lang="en-US" sz="1500" i="1" dirty="0">
                <a:solidFill>
                  <a:schemeClr val="bg2"/>
                </a:solidFill>
              </a:rPr>
              <a:t>MonetaGo's duplicate-financing registry is live on Swift, which proves the demand. It sees everyone's documents and advises; PledgeGuard sees only fingerprints and enforces.</a:t>
            </a:r>
            <a:endParaRPr lang="en-US" sz="15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Go-to-market: Canton first, then secured finance</a:t>
            </a:r>
            <a:endParaRPr lang="en-US" sz="3200" dirty="0"/>
          </a:p>
        </p:txBody>
      </p:sp>
      <p:sp>
        <p:nvSpPr>
          <p:cNvPr id="3" name="gtm-0"/>
          <p:cNvSpPr/>
          <p:nvPr/>
        </p:nvSpPr>
        <p:spPr>
          <a:xfrm>
            <a:off x="548640" y="1554480"/>
            <a:ext cx="5394960" cy="1874520"/>
          </a:xfrm>
          <a:prstGeom prst="roundRect">
            <a:avLst>
              <a:gd name="adj" fmla="val 3902"/>
            </a:avLst>
          </a:prstGeom>
          <a:solidFill>
            <a:schemeClr val="tx2"/>
          </a:solidFill>
          <a:ln w="9525">
            <a:solidFill>
              <a:schemeClr val="accent6"/>
            </a:solidFill>
            <a:prstDash val="solid"/>
          </a:ln>
        </p:spPr>
      </p:sp>
      <p:sp>
        <p:nvSpPr>
          <p:cNvPr id="4" name="Shape 2"/>
          <p:cNvSpPr/>
          <p:nvPr/>
        </p:nvSpPr>
        <p:spPr>
          <a:xfrm>
            <a:off x="868680" y="192024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09498" y="2061058"/>
            <a:ext cx="358445" cy="358445"/>
          </a:xfrm>
          <a:prstGeom prst="rect">
            <a:avLst/>
          </a:prstGeom>
        </p:spPr>
      </p:pic>
      <p:sp>
        <p:nvSpPr>
          <p:cNvPr id="6" name="Text 3"/>
          <p:cNvSpPr txBox="1"/>
          <p:nvPr/>
        </p:nvSpPr>
        <p:spPr>
          <a:xfrm>
            <a:off x="1783080" y="1901952"/>
            <a:ext cx="3840480" cy="411480"/>
          </a:xfrm>
          <a:prstGeom prst="rect">
            <a:avLst/>
          </a:prstGeom>
          <a:noFill/>
          <a:ln/>
        </p:spPr>
        <p:txBody>
          <a:bodyPr wrap="square" lIns="0" tIns="0" rIns="0" bIns="0" rtlCol="0" anchor="t"/>
          <a:lstStyle/>
          <a:p>
            <a:pPr indent="0" marL="0">
              <a:buNone/>
            </a:pPr>
            <a:r>
              <a:rPr lang="en-US" sz="1900" b="1" dirty="0">
                <a:solidFill>
                  <a:schemeClr val="bg1"/>
                </a:solidFill>
              </a:rPr>
              <a:t>1. Canton-native lenders</a:t>
            </a:r>
            <a:endParaRPr lang="en-US" sz="1900" dirty="0"/>
          </a:p>
        </p:txBody>
      </p:sp>
      <p:sp>
        <p:nvSpPr>
          <p:cNvPr id="7" name="Text 4"/>
          <p:cNvSpPr txBox="1"/>
          <p:nvPr/>
        </p:nvSpPr>
        <p:spPr>
          <a:xfrm>
            <a:off x="1783080" y="2359152"/>
            <a:ext cx="3840480" cy="960120"/>
          </a:xfrm>
          <a:prstGeom prst="rect">
            <a:avLst/>
          </a:prstGeom>
          <a:noFill/>
          <a:ln/>
        </p:spPr>
        <p:txBody>
          <a:bodyPr wrap="square" lIns="0" tIns="0" rIns="0" bIns="0" rtlCol="0" anchor="t"/>
          <a:lstStyle/>
          <a:p>
            <a:pPr indent="0" marL="0">
              <a:buNone/>
            </a:pPr>
            <a:r>
              <a:rPr lang="en-US" sz="1400" dirty="0">
                <a:solidFill>
                  <a:schemeClr val="bg2"/>
                </a:solidFill>
              </a:rPr>
              <a:t>Alpend, Cenote and ACME Markets already hold parties, wallets and stablecoin rails: integration is a Daml package and a few API calls.</a:t>
            </a:r>
            <a:endParaRPr lang="en-US" sz="1400" dirty="0"/>
          </a:p>
        </p:txBody>
      </p:sp>
      <p:sp>
        <p:nvSpPr>
          <p:cNvPr id="8" name="gtm-1"/>
          <p:cNvSpPr/>
          <p:nvPr/>
        </p:nvSpPr>
        <p:spPr>
          <a:xfrm>
            <a:off x="6172200" y="1554480"/>
            <a:ext cx="5394960" cy="1874520"/>
          </a:xfrm>
          <a:prstGeom prst="roundRect">
            <a:avLst>
              <a:gd name="adj" fmla="val 3902"/>
            </a:avLst>
          </a:prstGeom>
          <a:solidFill>
            <a:schemeClr val="tx2"/>
          </a:solidFill>
          <a:ln w="9525">
            <a:solidFill>
              <a:schemeClr val="accent6"/>
            </a:solidFill>
            <a:prstDash val="solid"/>
          </a:ln>
        </p:spPr>
      </p:sp>
      <p:sp>
        <p:nvSpPr>
          <p:cNvPr id="9" name="Shape 6"/>
          <p:cNvSpPr/>
          <p:nvPr/>
        </p:nvSpPr>
        <p:spPr>
          <a:xfrm>
            <a:off x="6492240" y="192024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633058" y="2061058"/>
            <a:ext cx="358445" cy="358445"/>
          </a:xfrm>
          <a:prstGeom prst="rect">
            <a:avLst/>
          </a:prstGeom>
        </p:spPr>
      </p:pic>
      <p:sp>
        <p:nvSpPr>
          <p:cNvPr id="11" name="Text 7"/>
          <p:cNvSpPr txBox="1"/>
          <p:nvPr/>
        </p:nvSpPr>
        <p:spPr>
          <a:xfrm>
            <a:off x="7406640" y="1901952"/>
            <a:ext cx="3840480" cy="411480"/>
          </a:xfrm>
          <a:prstGeom prst="rect">
            <a:avLst/>
          </a:prstGeom>
          <a:noFill/>
          <a:ln/>
        </p:spPr>
        <p:txBody>
          <a:bodyPr wrap="square" lIns="0" tIns="0" rIns="0" bIns="0" rtlCol="0" anchor="t"/>
          <a:lstStyle/>
          <a:p>
            <a:pPr indent="0" marL="0">
              <a:buNone/>
            </a:pPr>
            <a:r>
              <a:rPr lang="en-US" sz="1900" b="1" dirty="0">
                <a:solidFill>
                  <a:schemeClr val="bg1"/>
                </a:solidFill>
              </a:rPr>
              <a:t>2. Canton Foundation RFP 12.2</a:t>
            </a:r>
            <a:endParaRPr lang="en-US" sz="1900" dirty="0"/>
          </a:p>
        </p:txBody>
      </p:sp>
      <p:sp>
        <p:nvSpPr>
          <p:cNvPr id="12" name="Text 8"/>
          <p:cNvSpPr txBox="1"/>
          <p:nvPr/>
        </p:nvSpPr>
        <p:spPr>
          <a:xfrm>
            <a:off x="7406640" y="2359152"/>
            <a:ext cx="3840480" cy="960120"/>
          </a:xfrm>
          <a:prstGeom prst="rect">
            <a:avLst/>
          </a:prstGeom>
          <a:noFill/>
          <a:ln/>
        </p:spPr>
        <p:txBody>
          <a:bodyPr wrap="square" lIns="0" tIns="0" rIns="0" bIns="0" rtlCol="0" anchor="t"/>
          <a:lstStyle/>
          <a:p>
            <a:pPr indent="0" marL="0">
              <a:buNone/>
            </a:pPr>
            <a:r>
              <a:rPr lang="en-US" sz="1400" dirty="0">
                <a:solidFill>
                  <a:schemeClr val="bg2"/>
                </a:solidFill>
              </a:rPr>
              <a:t>A grant track for repo, collateral, lending and servicing workflows, with institutional introductions.</a:t>
            </a:r>
            <a:endParaRPr lang="en-US" sz="1400" dirty="0"/>
          </a:p>
        </p:txBody>
      </p:sp>
      <p:sp>
        <p:nvSpPr>
          <p:cNvPr id="13" name="gtm-2"/>
          <p:cNvSpPr/>
          <p:nvPr/>
        </p:nvSpPr>
        <p:spPr>
          <a:xfrm>
            <a:off x="548640" y="3657600"/>
            <a:ext cx="5394960" cy="1874520"/>
          </a:xfrm>
          <a:prstGeom prst="roundRect">
            <a:avLst>
              <a:gd name="adj" fmla="val 3902"/>
            </a:avLst>
          </a:prstGeom>
          <a:solidFill>
            <a:schemeClr val="tx2"/>
          </a:solidFill>
          <a:ln w="9525">
            <a:solidFill>
              <a:schemeClr val="accent6"/>
            </a:solidFill>
            <a:prstDash val="solid"/>
          </a:ln>
        </p:spPr>
      </p:sp>
      <p:sp>
        <p:nvSpPr>
          <p:cNvPr id="14" name="Shape 10"/>
          <p:cNvSpPr/>
          <p:nvPr/>
        </p:nvSpPr>
        <p:spPr>
          <a:xfrm>
            <a:off x="868680" y="4023360"/>
            <a:ext cx="640080" cy="64008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1009498" y="4164178"/>
            <a:ext cx="358445" cy="358445"/>
          </a:xfrm>
          <a:prstGeom prst="rect">
            <a:avLst/>
          </a:prstGeom>
        </p:spPr>
      </p:pic>
      <p:sp>
        <p:nvSpPr>
          <p:cNvPr id="16" name="Text 11"/>
          <p:cNvSpPr txBox="1"/>
          <p:nvPr/>
        </p:nvSpPr>
        <p:spPr>
          <a:xfrm>
            <a:off x="1783080" y="4005072"/>
            <a:ext cx="3840480" cy="411480"/>
          </a:xfrm>
          <a:prstGeom prst="rect">
            <a:avLst/>
          </a:prstGeom>
          <a:noFill/>
          <a:ln/>
        </p:spPr>
        <p:txBody>
          <a:bodyPr wrap="square" lIns="0" tIns="0" rIns="0" bIns="0" rtlCol="0" anchor="t"/>
          <a:lstStyle/>
          <a:p>
            <a:pPr indent="0" marL="0">
              <a:buNone/>
            </a:pPr>
            <a:r>
              <a:rPr lang="en-US" sz="1900" b="1" dirty="0">
                <a:solidFill>
                  <a:schemeClr val="bg1"/>
                </a:solidFill>
              </a:rPr>
              <a:t>3. BitSafe and node operators</a:t>
            </a:r>
            <a:endParaRPr lang="en-US" sz="1900" dirty="0"/>
          </a:p>
        </p:txBody>
      </p:sp>
      <p:sp>
        <p:nvSpPr>
          <p:cNvPr id="17" name="Text 12"/>
          <p:cNvSpPr txBox="1"/>
          <p:nvPr/>
        </p:nvSpPr>
        <p:spPr>
          <a:xfrm>
            <a:off x="1783080" y="4462272"/>
            <a:ext cx="3840480" cy="960120"/>
          </a:xfrm>
          <a:prstGeom prst="rect">
            <a:avLst/>
          </a:prstGeom>
          <a:noFill/>
          <a:ln/>
        </p:spPr>
        <p:txBody>
          <a:bodyPr wrap="square" lIns="0" tIns="0" rIns="0" bIns="0" rtlCol="0" anchor="t"/>
          <a:lstStyle/>
          <a:p>
            <a:pPr indent="0" marL="0">
              <a:buNone/>
            </a:pPr>
            <a:r>
              <a:rPr lang="en-US" sz="1400" dirty="0">
                <a:solidFill>
                  <a:schemeClr val="bg2"/>
                </a:solidFill>
              </a:rPr>
              <a:t>BitSafe's Decentralization Manager ecosystem and NODERS bring the registry's independent members.</a:t>
            </a:r>
            <a:endParaRPr lang="en-US" sz="1400" dirty="0"/>
          </a:p>
        </p:txBody>
      </p:sp>
      <p:sp>
        <p:nvSpPr>
          <p:cNvPr id="18" name="gtm-3"/>
          <p:cNvSpPr/>
          <p:nvPr/>
        </p:nvSpPr>
        <p:spPr>
          <a:xfrm>
            <a:off x="6172200" y="3657600"/>
            <a:ext cx="5394960" cy="1874520"/>
          </a:xfrm>
          <a:prstGeom prst="roundRect">
            <a:avLst>
              <a:gd name="adj" fmla="val 3902"/>
            </a:avLst>
          </a:prstGeom>
          <a:solidFill>
            <a:schemeClr val="tx2"/>
          </a:solidFill>
          <a:ln w="9525">
            <a:solidFill>
              <a:schemeClr val="accent6"/>
            </a:solidFill>
            <a:prstDash val="solid"/>
          </a:ln>
        </p:spPr>
      </p:sp>
      <p:sp>
        <p:nvSpPr>
          <p:cNvPr id="19" name="Shape 14"/>
          <p:cNvSpPr/>
          <p:nvPr/>
        </p:nvSpPr>
        <p:spPr>
          <a:xfrm>
            <a:off x="6492240" y="4023360"/>
            <a:ext cx="640080" cy="64008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6633058" y="4164178"/>
            <a:ext cx="358445" cy="358445"/>
          </a:xfrm>
          <a:prstGeom prst="rect">
            <a:avLst/>
          </a:prstGeom>
        </p:spPr>
      </p:pic>
      <p:sp>
        <p:nvSpPr>
          <p:cNvPr id="21" name="Text 15"/>
          <p:cNvSpPr txBox="1"/>
          <p:nvPr/>
        </p:nvSpPr>
        <p:spPr>
          <a:xfrm>
            <a:off x="7406640" y="4005072"/>
            <a:ext cx="3840480" cy="411480"/>
          </a:xfrm>
          <a:prstGeom prst="rect">
            <a:avLst/>
          </a:prstGeom>
          <a:noFill/>
          <a:ln/>
        </p:spPr>
        <p:txBody>
          <a:bodyPr wrap="square" lIns="0" tIns="0" rIns="0" bIns="0" rtlCol="0" anchor="t"/>
          <a:lstStyle/>
          <a:p>
            <a:pPr indent="0" marL="0">
              <a:buNone/>
            </a:pPr>
            <a:r>
              <a:rPr lang="en-US" sz="1900" b="1" dirty="0">
                <a:solidFill>
                  <a:schemeClr val="bg1"/>
                </a:solidFill>
              </a:rPr>
              <a:t>4. Secured-finance associations</a:t>
            </a:r>
            <a:endParaRPr lang="en-US" sz="1900" dirty="0"/>
          </a:p>
        </p:txBody>
      </p:sp>
      <p:sp>
        <p:nvSpPr>
          <p:cNvPr id="22" name="Text 16"/>
          <p:cNvSpPr txBox="1"/>
          <p:nvPr/>
        </p:nvSpPr>
        <p:spPr>
          <a:xfrm>
            <a:off x="7406640" y="4462272"/>
            <a:ext cx="3840480" cy="960120"/>
          </a:xfrm>
          <a:prstGeom prst="rect">
            <a:avLst/>
          </a:prstGeom>
          <a:noFill/>
          <a:ln/>
        </p:spPr>
        <p:txBody>
          <a:bodyPr wrap="square" lIns="0" tIns="0" rIns="0" bIns="0" rtlCol="0" anchor="t"/>
          <a:lstStyle/>
          <a:p>
            <a:pPr indent="0" marL="0">
              <a:buNone/>
            </a:pPr>
            <a:r>
              <a:rPr lang="en-US" sz="1400" dirty="0">
                <a:solidFill>
                  <a:schemeClr val="bg2"/>
                </a:solidFill>
              </a:rPr>
              <a:t>SFNet and the LSTA reach the ABL, factoring and loan-operations teams beyond Canton.</a:t>
            </a:r>
            <a:endParaRPr lang="en-US" sz="14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Team</a:t>
            </a:r>
            <a:endParaRPr lang="en-US" sz="3200" dirty="0"/>
          </a:p>
        </p:txBody>
      </p:sp>
      <p:sp>
        <p:nvSpPr>
          <p:cNvPr id="3" name="founder"/>
          <p:cNvSpPr/>
          <p:nvPr/>
        </p:nvSpPr>
        <p:spPr>
          <a:xfrm>
            <a:off x="548640" y="1554480"/>
            <a:ext cx="6400800" cy="4023360"/>
          </a:xfrm>
          <a:prstGeom prst="roundRect">
            <a:avLst>
              <a:gd name="adj" fmla="val 1818"/>
            </a:avLst>
          </a:prstGeom>
          <a:solidFill>
            <a:schemeClr val="tx2"/>
          </a:solidFill>
          <a:ln w="9525">
            <a:solidFill>
              <a:schemeClr val="accent1"/>
            </a:solidFill>
            <a:prstDash val="solid"/>
          </a:ln>
        </p:spPr>
      </p:sp>
      <p:sp>
        <p:nvSpPr>
          <p:cNvPr id="4" name="Shape 2"/>
          <p:cNvSpPr/>
          <p:nvPr/>
        </p:nvSpPr>
        <p:spPr>
          <a:xfrm>
            <a:off x="960120" y="1874520"/>
            <a:ext cx="1005840" cy="10058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181405" y="2095805"/>
            <a:ext cx="563270" cy="563270"/>
          </a:xfrm>
          <a:prstGeom prst="rect">
            <a:avLst/>
          </a:prstGeom>
        </p:spPr>
      </p:pic>
      <p:sp>
        <p:nvSpPr>
          <p:cNvPr id="6" name="Text 3"/>
          <p:cNvSpPr txBox="1"/>
          <p:nvPr/>
        </p:nvSpPr>
        <p:spPr>
          <a:xfrm>
            <a:off x="2194560" y="1920240"/>
            <a:ext cx="457200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Nolwen Sean HONONTA</a:t>
            </a:r>
            <a:endParaRPr lang="en-US" sz="2400" dirty="0"/>
          </a:p>
        </p:txBody>
      </p:sp>
      <p:sp>
        <p:nvSpPr>
          <p:cNvPr id="7" name="Text 4"/>
          <p:cNvSpPr txBox="1"/>
          <p:nvPr/>
        </p:nvSpPr>
        <p:spPr>
          <a:xfrm>
            <a:off x="2194560" y="2423160"/>
            <a:ext cx="4572000" cy="365760"/>
          </a:xfrm>
          <a:prstGeom prst="rect">
            <a:avLst/>
          </a:prstGeom>
          <a:noFill/>
          <a:ln/>
        </p:spPr>
        <p:txBody>
          <a:bodyPr wrap="square" lIns="0" tIns="0" rIns="0" bIns="0" rtlCol="0" anchor="t"/>
          <a:lstStyle/>
          <a:p>
            <a:pPr indent="0" marL="0">
              <a:buNone/>
            </a:pPr>
            <a:r>
              <a:rPr lang="en-US" sz="1600" dirty="0">
                <a:solidFill>
                  <a:schemeClr val="accent1"/>
                </a:solidFill>
              </a:rPr>
              <a:t>Founder, solo builder</a:t>
            </a:r>
            <a:endParaRPr lang="en-US" sz="1600" dirty="0"/>
          </a:p>
        </p:txBody>
      </p:sp>
      <p:sp>
        <p:nvSpPr>
          <p:cNvPr id="8" name="Text 5"/>
          <p:cNvSpPr txBox="1"/>
          <p:nvPr/>
        </p:nvSpPr>
        <p:spPr>
          <a:xfrm>
            <a:off x="960120" y="3200400"/>
            <a:ext cx="54864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BUILT DURING THE HACKATHON</a:t>
            </a:r>
            <a:endParaRPr lang="en-US" sz="1100" dirty="0"/>
          </a:p>
        </p:txBody>
      </p:sp>
      <p:sp>
        <p:nvSpPr>
          <p:cNvPr id="9" name="Text 6"/>
          <p:cNvSpPr txBox="1"/>
          <p:nvPr/>
        </p:nvSpPr>
        <p:spPr>
          <a:xfrm>
            <a:off x="960120" y="3520440"/>
            <a:ext cx="5577840" cy="18288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2"/>
                </a:solidFill>
              </a:rPr>
              <a:t>Daml model and a 24-transaction test suite</a:t>
            </a:r>
            <a:endParaRPr lang="en-US" sz="1500" dirty="0"/>
          </a:p>
          <a:p>
            <a:pPr marL="342900" indent="-342900">
              <a:spcAft>
                <a:spcPts val="400"/>
              </a:spcAft>
              <a:buSzPct val="100000"/>
              <a:buChar char="•"/>
            </a:pPr>
            <a:r>
              <a:rPr lang="en-US" sz="1500" dirty="0">
                <a:solidFill>
                  <a:schemeClr val="bg2"/>
                </a:solidFill>
              </a:rPr>
              <a:t>Registry automation and its security fixes</a:t>
            </a:r>
            <a:endParaRPr lang="en-US" sz="1500" dirty="0"/>
          </a:p>
          <a:p>
            <a:pPr marL="342900" indent="-342900">
              <a:spcAft>
                <a:spcPts val="400"/>
              </a:spcAft>
              <a:buSzPct val="100000"/>
              <a:buChar char="•"/>
            </a:pPr>
            <a:r>
              <a:rPr lang="en-US" sz="1500" dirty="0">
                <a:solidFill>
                  <a:schemeClr val="bg2"/>
                </a:solidFill>
              </a:rPr>
              <a:t>The live platform, deployed and hardened</a:t>
            </a:r>
            <a:endParaRPr lang="en-US" sz="1500" dirty="0"/>
          </a:p>
          <a:p>
            <a:pPr marL="342900" indent="-342900">
              <a:spcAft>
                <a:spcPts val="400"/>
              </a:spcAft>
              <a:buSzPct val="100000"/>
              <a:buChar char="•"/>
            </a:pPr>
            <a:r>
              <a:rPr lang="en-US" sz="1500" dirty="0">
                <a:solidFill>
                  <a:schemeClr val="bg2"/>
                </a:solidFill>
              </a:rPr>
              <a:t>The decentralized registry on a 3-node Canton network</a:t>
            </a:r>
            <a:endParaRPr lang="en-US" sz="1500" dirty="0"/>
          </a:p>
        </p:txBody>
      </p:sp>
      <p:sp>
        <p:nvSpPr>
          <p:cNvPr id="10" name="Text 7"/>
          <p:cNvSpPr txBox="1"/>
          <p:nvPr/>
        </p:nvSpPr>
        <p:spPr>
          <a:xfrm>
            <a:off x="7406640" y="1600200"/>
            <a:ext cx="423641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NEXT HIRES</a:t>
            </a:r>
            <a:endParaRPr lang="en-US" sz="1100" dirty="0"/>
          </a:p>
        </p:txBody>
      </p:sp>
      <p:sp>
        <p:nvSpPr>
          <p:cNvPr id="11" name="Text 8"/>
          <p:cNvSpPr txBox="1"/>
          <p:nvPr/>
        </p:nvSpPr>
        <p:spPr>
          <a:xfrm>
            <a:off x="7406640" y="1965960"/>
            <a:ext cx="4236415" cy="365760"/>
          </a:xfrm>
          <a:prstGeom prst="rect">
            <a:avLst/>
          </a:prstGeom>
          <a:noFill/>
          <a:ln/>
        </p:spPr>
        <p:txBody>
          <a:bodyPr wrap="square" lIns="0" tIns="0" rIns="0" bIns="0" rtlCol="0" anchor="t"/>
          <a:lstStyle/>
          <a:p>
            <a:pPr indent="0" marL="0">
              <a:buNone/>
            </a:pPr>
            <a:r>
              <a:rPr lang="en-US" sz="1700" b="1" dirty="0">
                <a:solidFill>
                  <a:schemeClr val="bg1"/>
                </a:solidFill>
              </a:rPr>
              <a:t>A credit / ABL lead</a:t>
            </a:r>
            <a:endParaRPr lang="en-US" sz="1700" dirty="0"/>
          </a:p>
        </p:txBody>
      </p:sp>
      <p:sp>
        <p:nvSpPr>
          <p:cNvPr id="12" name="Text 9"/>
          <p:cNvSpPr txBox="1"/>
          <p:nvPr/>
        </p:nvSpPr>
        <p:spPr>
          <a:xfrm>
            <a:off x="7406640" y="2331720"/>
            <a:ext cx="4236415" cy="457200"/>
          </a:xfrm>
          <a:prstGeom prst="rect">
            <a:avLst/>
          </a:prstGeom>
          <a:noFill/>
          <a:ln/>
        </p:spPr>
        <p:txBody>
          <a:bodyPr wrap="square" lIns="0" tIns="0" rIns="0" bIns="0" rtlCol="0" anchor="t"/>
          <a:lstStyle/>
          <a:p>
            <a:pPr indent="0" marL="0">
              <a:buNone/>
            </a:pPr>
            <a:r>
              <a:rPr lang="en-US" sz="1400" dirty="0">
                <a:solidFill>
                  <a:schemeClr val="bg2"/>
                </a:solidFill>
              </a:rPr>
              <a:t>To run lender pilots and the fingerprint schema</a:t>
            </a:r>
            <a:endParaRPr lang="en-US" sz="1400" dirty="0"/>
          </a:p>
        </p:txBody>
      </p:sp>
      <p:sp>
        <p:nvSpPr>
          <p:cNvPr id="13" name="Text 10"/>
          <p:cNvSpPr txBox="1"/>
          <p:nvPr/>
        </p:nvSpPr>
        <p:spPr>
          <a:xfrm>
            <a:off x="7406640" y="3017520"/>
            <a:ext cx="4236415" cy="365760"/>
          </a:xfrm>
          <a:prstGeom prst="rect">
            <a:avLst/>
          </a:prstGeom>
          <a:noFill/>
          <a:ln/>
        </p:spPr>
        <p:txBody>
          <a:bodyPr wrap="square" lIns="0" tIns="0" rIns="0" bIns="0" rtlCol="0" anchor="t"/>
          <a:lstStyle/>
          <a:p>
            <a:pPr indent="0" marL="0">
              <a:buNone/>
            </a:pPr>
            <a:r>
              <a:rPr lang="en-US" sz="1700" b="1" dirty="0">
                <a:solidFill>
                  <a:schemeClr val="bg1"/>
                </a:solidFill>
              </a:rPr>
              <a:t>A Canton engineer</a:t>
            </a:r>
            <a:endParaRPr lang="en-US" sz="1700" dirty="0"/>
          </a:p>
        </p:txBody>
      </p:sp>
      <p:sp>
        <p:nvSpPr>
          <p:cNvPr id="14" name="Text 11"/>
          <p:cNvSpPr txBox="1"/>
          <p:nvPr/>
        </p:nvSpPr>
        <p:spPr>
          <a:xfrm>
            <a:off x="7406640" y="3383280"/>
            <a:ext cx="4236415" cy="457200"/>
          </a:xfrm>
          <a:prstGeom prst="rect">
            <a:avLst/>
          </a:prstGeom>
          <a:noFill/>
          <a:ln/>
        </p:spPr>
        <p:txBody>
          <a:bodyPr wrap="square" lIns="0" tIns="0" rIns="0" bIns="0" rtlCol="0" anchor="t"/>
          <a:lstStyle/>
          <a:p>
            <a:pPr indent="0" marL="0">
              <a:buNone/>
            </a:pPr>
            <a:r>
              <a:rPr lang="en-US" sz="1400" dirty="0">
                <a:solidFill>
                  <a:schemeClr val="bg2"/>
                </a:solidFill>
              </a:rPr>
              <a:t>To operate the registry members and integrations</a:t>
            </a:r>
            <a:endParaRPr lang="en-US" sz="14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What we are asking for</a:t>
            </a:r>
            <a:endParaRPr lang="en-US" sz="3200" dirty="0"/>
          </a:p>
        </p:txBody>
      </p:sp>
      <p:sp>
        <p:nvSpPr>
          <p:cNvPr id="3" name="ask-0"/>
          <p:cNvSpPr/>
          <p:nvPr/>
        </p:nvSpPr>
        <p:spPr>
          <a:xfrm>
            <a:off x="548640" y="1554480"/>
            <a:ext cx="6035040" cy="1051560"/>
          </a:xfrm>
          <a:prstGeom prst="roundRect">
            <a:avLst>
              <a:gd name="adj" fmla="val 6957"/>
            </a:avLst>
          </a:prstGeom>
          <a:solidFill>
            <a:schemeClr val="tx2"/>
          </a:solidFill>
          <a:ln w="9525">
            <a:solidFill>
              <a:schemeClr val="accent1"/>
            </a:solidFill>
            <a:prstDash val="solid"/>
          </a:ln>
        </p:spPr>
      </p:sp>
      <p:sp>
        <p:nvSpPr>
          <p:cNvPr id="4" name="Shape 2"/>
          <p:cNvSpPr/>
          <p:nvPr/>
        </p:nvSpPr>
        <p:spPr>
          <a:xfrm>
            <a:off x="822960" y="1783080"/>
            <a:ext cx="594360" cy="5943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53719" y="1913839"/>
            <a:ext cx="332842" cy="332842"/>
          </a:xfrm>
          <a:prstGeom prst="rect">
            <a:avLst/>
          </a:prstGeom>
        </p:spPr>
      </p:pic>
      <p:sp>
        <p:nvSpPr>
          <p:cNvPr id="6" name="Text 3"/>
          <p:cNvSpPr txBox="1"/>
          <p:nvPr/>
        </p:nvSpPr>
        <p:spPr>
          <a:xfrm>
            <a:off x="1600200" y="1709928"/>
            <a:ext cx="4846320" cy="384048"/>
          </a:xfrm>
          <a:prstGeom prst="rect">
            <a:avLst/>
          </a:prstGeom>
          <a:noFill/>
          <a:ln/>
        </p:spPr>
        <p:txBody>
          <a:bodyPr wrap="square" lIns="0" tIns="0" rIns="0" bIns="0" rtlCol="0" anchor="t"/>
          <a:lstStyle/>
          <a:p>
            <a:pPr indent="0" marL="0">
              <a:buNone/>
            </a:pPr>
            <a:r>
              <a:rPr lang="en-US" sz="1700" b="1" dirty="0">
                <a:solidFill>
                  <a:schemeClr val="bg1"/>
                </a:solidFill>
              </a:rPr>
              <a:t>Grand Final and the AppsFactory accelerator</a:t>
            </a:r>
            <a:endParaRPr lang="en-US" sz="1700" dirty="0"/>
          </a:p>
        </p:txBody>
      </p:sp>
      <p:sp>
        <p:nvSpPr>
          <p:cNvPr id="7" name="Text 4"/>
          <p:cNvSpPr txBox="1"/>
          <p:nvPr/>
        </p:nvSpPr>
        <p:spPr>
          <a:xfrm>
            <a:off x="1600200" y="2103120"/>
            <a:ext cx="4846320" cy="411480"/>
          </a:xfrm>
          <a:prstGeom prst="rect">
            <a:avLst/>
          </a:prstGeom>
          <a:noFill/>
          <a:ln/>
        </p:spPr>
        <p:txBody>
          <a:bodyPr wrap="square" lIns="0" tIns="0" rIns="0" bIns="0" rtlCol="0" anchor="t"/>
          <a:lstStyle/>
          <a:p>
            <a:pPr indent="0" marL="0">
              <a:buNone/>
            </a:pPr>
            <a:r>
              <a:rPr lang="en-US" sz="1300" dirty="0">
                <a:solidFill>
                  <a:schemeClr val="bg2"/>
                </a:solidFill>
              </a:rPr>
              <a:t>8 weeks to turn the live platform into a pilot-ready product</a:t>
            </a:r>
            <a:endParaRPr lang="en-US" sz="1300" dirty="0"/>
          </a:p>
        </p:txBody>
      </p:sp>
      <p:sp>
        <p:nvSpPr>
          <p:cNvPr id="8" name="ask-1"/>
          <p:cNvSpPr/>
          <p:nvPr/>
        </p:nvSpPr>
        <p:spPr>
          <a:xfrm>
            <a:off x="548640" y="2788920"/>
            <a:ext cx="6035040" cy="1051560"/>
          </a:xfrm>
          <a:prstGeom prst="roundRect">
            <a:avLst>
              <a:gd name="adj" fmla="val 6957"/>
            </a:avLst>
          </a:prstGeom>
          <a:solidFill>
            <a:schemeClr val="tx2"/>
          </a:solidFill>
          <a:ln w="9525">
            <a:solidFill>
              <a:schemeClr val="accent1"/>
            </a:solidFill>
            <a:prstDash val="solid"/>
          </a:ln>
        </p:spPr>
      </p:sp>
      <p:sp>
        <p:nvSpPr>
          <p:cNvPr id="9" name="Shape 6"/>
          <p:cNvSpPr/>
          <p:nvPr/>
        </p:nvSpPr>
        <p:spPr>
          <a:xfrm>
            <a:off x="822960" y="3017520"/>
            <a:ext cx="594360" cy="59436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953719" y="3148279"/>
            <a:ext cx="332842" cy="332842"/>
          </a:xfrm>
          <a:prstGeom prst="rect">
            <a:avLst/>
          </a:prstGeom>
        </p:spPr>
      </p:pic>
      <p:sp>
        <p:nvSpPr>
          <p:cNvPr id="11" name="Text 7"/>
          <p:cNvSpPr txBox="1"/>
          <p:nvPr/>
        </p:nvSpPr>
        <p:spPr>
          <a:xfrm>
            <a:off x="1600200" y="2944368"/>
            <a:ext cx="4846320" cy="384048"/>
          </a:xfrm>
          <a:prstGeom prst="rect">
            <a:avLst/>
          </a:prstGeom>
          <a:noFill/>
          <a:ln/>
        </p:spPr>
        <p:txBody>
          <a:bodyPr wrap="square" lIns="0" tIns="0" rIns="0" bIns="0" rtlCol="0" anchor="t"/>
          <a:lstStyle/>
          <a:p>
            <a:pPr indent="0" marL="0">
              <a:buNone/>
            </a:pPr>
            <a:r>
              <a:rPr lang="en-US" sz="1700" b="1" dirty="0">
                <a:solidFill>
                  <a:schemeClr val="bg1"/>
                </a:solidFill>
              </a:rPr>
              <a:t>A Canton Foundation grant (RFP 12.2)</a:t>
            </a:r>
            <a:endParaRPr lang="en-US" sz="1700" dirty="0"/>
          </a:p>
        </p:txBody>
      </p:sp>
      <p:sp>
        <p:nvSpPr>
          <p:cNvPr id="12" name="Text 8"/>
          <p:cNvSpPr txBox="1"/>
          <p:nvPr/>
        </p:nvSpPr>
        <p:spPr>
          <a:xfrm>
            <a:off x="1600200" y="3337560"/>
            <a:ext cx="4846320" cy="411480"/>
          </a:xfrm>
          <a:prstGeom prst="rect">
            <a:avLst/>
          </a:prstGeom>
          <a:noFill/>
          <a:ln/>
        </p:spPr>
        <p:txBody>
          <a:bodyPr wrap="square" lIns="0" tIns="0" rIns="0" bIns="0" rtlCol="0" anchor="t"/>
          <a:lstStyle/>
          <a:p>
            <a:pPr indent="0" marL="0">
              <a:buNone/>
            </a:pPr>
            <a:r>
              <a:rPr lang="en-US" sz="1300" dirty="0">
                <a:solidFill>
                  <a:schemeClr val="bg2"/>
                </a:solidFill>
              </a:rPr>
              <a:t>To fund the registry members, the fingerprint schema and conformance tests</a:t>
            </a:r>
            <a:endParaRPr lang="en-US" sz="1300" dirty="0"/>
          </a:p>
        </p:txBody>
      </p:sp>
      <p:sp>
        <p:nvSpPr>
          <p:cNvPr id="13" name="ask-2"/>
          <p:cNvSpPr/>
          <p:nvPr/>
        </p:nvSpPr>
        <p:spPr>
          <a:xfrm>
            <a:off x="548640" y="4023360"/>
            <a:ext cx="6035040" cy="1051560"/>
          </a:xfrm>
          <a:prstGeom prst="roundRect">
            <a:avLst>
              <a:gd name="adj" fmla="val 6957"/>
            </a:avLst>
          </a:prstGeom>
          <a:solidFill>
            <a:schemeClr val="tx2"/>
          </a:solidFill>
          <a:ln w="9525">
            <a:solidFill>
              <a:schemeClr val="accent1"/>
            </a:solidFill>
            <a:prstDash val="solid"/>
          </a:ln>
        </p:spPr>
      </p:sp>
      <p:sp>
        <p:nvSpPr>
          <p:cNvPr id="14" name="Shape 10"/>
          <p:cNvSpPr/>
          <p:nvPr/>
        </p:nvSpPr>
        <p:spPr>
          <a:xfrm>
            <a:off x="822960" y="4251960"/>
            <a:ext cx="594360" cy="59436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953719" y="4382719"/>
            <a:ext cx="332842" cy="332842"/>
          </a:xfrm>
          <a:prstGeom prst="rect">
            <a:avLst/>
          </a:prstGeom>
        </p:spPr>
      </p:pic>
      <p:sp>
        <p:nvSpPr>
          <p:cNvPr id="16" name="Text 11"/>
          <p:cNvSpPr txBox="1"/>
          <p:nvPr/>
        </p:nvSpPr>
        <p:spPr>
          <a:xfrm>
            <a:off x="1600200" y="4178808"/>
            <a:ext cx="4846320" cy="384048"/>
          </a:xfrm>
          <a:prstGeom prst="rect">
            <a:avLst/>
          </a:prstGeom>
          <a:noFill/>
          <a:ln/>
        </p:spPr>
        <p:txBody>
          <a:bodyPr wrap="square" lIns="0" tIns="0" rIns="0" bIns="0" rtlCol="0" anchor="t"/>
          <a:lstStyle/>
          <a:p>
            <a:pPr indent="0" marL="0">
              <a:buNone/>
            </a:pPr>
            <a:r>
              <a:rPr lang="en-US" sz="1700" b="1" dirty="0">
                <a:solidFill>
                  <a:schemeClr val="bg1"/>
                </a:solidFill>
              </a:rPr>
              <a:t>One pilot lender and two registry members</a:t>
            </a:r>
            <a:endParaRPr lang="en-US" sz="1700" dirty="0"/>
          </a:p>
        </p:txBody>
      </p:sp>
      <p:sp>
        <p:nvSpPr>
          <p:cNvPr id="17" name="Text 12"/>
          <p:cNvSpPr txBox="1"/>
          <p:nvPr/>
        </p:nvSpPr>
        <p:spPr>
          <a:xfrm>
            <a:off x="1600200" y="4572000"/>
            <a:ext cx="4846320" cy="411480"/>
          </a:xfrm>
          <a:prstGeom prst="rect">
            <a:avLst/>
          </a:prstGeom>
          <a:noFill/>
          <a:ln/>
        </p:spPr>
        <p:txBody>
          <a:bodyPr wrap="square" lIns="0" tIns="0" rIns="0" bIns="0" rtlCol="0" anchor="t"/>
          <a:lstStyle/>
          <a:p>
            <a:pPr indent="0" marL="0">
              <a:buNone/>
            </a:pPr>
            <a:r>
              <a:rPr lang="en-US" sz="1300" dirty="0">
                <a:solidFill>
                  <a:schemeClr val="bg2"/>
                </a:solidFill>
              </a:rPr>
              <a:t>A 90-day shadow pilot on real facilities, no funds; BitSafe and NODERS as members</a:t>
            </a:r>
            <a:endParaRPr lang="en-US" sz="1300" dirty="0"/>
          </a:p>
        </p:txBody>
      </p:sp>
      <p:sp>
        <p:nvSpPr>
          <p:cNvPr id="18" name="Text 13"/>
          <p:cNvSpPr txBox="1"/>
          <p:nvPr/>
        </p:nvSpPr>
        <p:spPr>
          <a:xfrm>
            <a:off x="6995160" y="1600200"/>
            <a:ext cx="464789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WHAT IT BUYS IN 90 DAYS</a:t>
            </a:r>
            <a:endParaRPr lang="en-US" sz="1100" dirty="0"/>
          </a:p>
        </p:txBody>
      </p:sp>
      <p:sp>
        <p:nvSpPr>
          <p:cNvPr id="19" name="Shape 14"/>
          <p:cNvSpPr/>
          <p:nvPr/>
        </p:nvSpPr>
        <p:spPr>
          <a:xfrm>
            <a:off x="7150608" y="2057400"/>
            <a:ext cx="0" cy="3017520"/>
          </a:xfrm>
          <a:prstGeom prst="line">
            <a:avLst/>
          </a:prstGeom>
          <a:noFill/>
          <a:ln w="12700">
            <a:solidFill>
              <a:schemeClr val="accent5"/>
            </a:solidFill>
            <a:prstDash val="solid"/>
          </a:ln>
        </p:spPr>
      </p:sp>
      <p:sp>
        <p:nvSpPr>
          <p:cNvPr id="20" name="Shape 15"/>
          <p:cNvSpPr/>
          <p:nvPr/>
        </p:nvSpPr>
        <p:spPr>
          <a:xfrm>
            <a:off x="6995160" y="1965960"/>
            <a:ext cx="310896" cy="310896"/>
          </a:xfrm>
          <a:prstGeom prst="ellipse">
            <a:avLst/>
          </a:prstGeom>
          <a:solidFill>
            <a:schemeClr val="accent1"/>
          </a:solidFill>
          <a:ln w="12700">
            <a:solidFill>
              <a:schemeClr val="accent1"/>
            </a:solidFill>
            <a:prstDash val="solid"/>
          </a:ln>
        </p:spPr>
      </p:sp>
      <p:sp>
        <p:nvSpPr>
          <p:cNvPr id="21" name="Text 16"/>
          <p:cNvSpPr txBox="1"/>
          <p:nvPr/>
        </p:nvSpPr>
        <p:spPr>
          <a:xfrm>
            <a:off x="7498080" y="1984248"/>
            <a:ext cx="414497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WEEKS 1 TO 4</a:t>
            </a:r>
            <a:endParaRPr lang="en-US" sz="1100" dirty="0"/>
          </a:p>
        </p:txBody>
      </p:sp>
      <p:sp>
        <p:nvSpPr>
          <p:cNvPr id="22" name="Text 17"/>
          <p:cNvSpPr txBox="1"/>
          <p:nvPr/>
        </p:nvSpPr>
        <p:spPr>
          <a:xfrm>
            <a:off x="7498080" y="2313432"/>
            <a:ext cx="4144975" cy="685800"/>
          </a:xfrm>
          <a:prstGeom prst="rect">
            <a:avLst/>
          </a:prstGeom>
          <a:noFill/>
          <a:ln/>
        </p:spPr>
        <p:txBody>
          <a:bodyPr wrap="square" lIns="0" tIns="0" rIns="0" bIns="0" rtlCol="0" anchor="t"/>
          <a:lstStyle/>
          <a:p>
            <a:pPr indent="0" marL="0">
              <a:buNone/>
            </a:pPr>
            <a:r>
              <a:rPr lang="en-US" sz="1500" dirty="0">
                <a:solidFill>
                  <a:schemeClr val="bg1"/>
                </a:solidFill>
              </a:rPr>
              <a:t>Three independent registry members on DevNet; fingerprint schema v1</a:t>
            </a:r>
            <a:endParaRPr lang="en-US" sz="1500" dirty="0"/>
          </a:p>
        </p:txBody>
      </p:sp>
      <p:sp>
        <p:nvSpPr>
          <p:cNvPr id="23" name="Shape 18"/>
          <p:cNvSpPr/>
          <p:nvPr/>
        </p:nvSpPr>
        <p:spPr>
          <a:xfrm>
            <a:off x="6995160" y="3108960"/>
            <a:ext cx="310896" cy="310896"/>
          </a:xfrm>
          <a:prstGeom prst="ellipse">
            <a:avLst/>
          </a:prstGeom>
          <a:solidFill>
            <a:schemeClr val="accent1"/>
          </a:solidFill>
          <a:ln w="12700">
            <a:solidFill>
              <a:schemeClr val="accent1"/>
            </a:solidFill>
            <a:prstDash val="solid"/>
          </a:ln>
        </p:spPr>
      </p:sp>
      <p:sp>
        <p:nvSpPr>
          <p:cNvPr id="24" name="Text 19"/>
          <p:cNvSpPr txBox="1"/>
          <p:nvPr/>
        </p:nvSpPr>
        <p:spPr>
          <a:xfrm>
            <a:off x="7498080" y="3127248"/>
            <a:ext cx="414497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WEEKS 5 TO 8</a:t>
            </a:r>
            <a:endParaRPr lang="en-US" sz="1100" dirty="0"/>
          </a:p>
        </p:txBody>
      </p:sp>
      <p:sp>
        <p:nvSpPr>
          <p:cNvPr id="25" name="Text 20"/>
          <p:cNvSpPr txBox="1"/>
          <p:nvPr/>
        </p:nvSpPr>
        <p:spPr>
          <a:xfrm>
            <a:off x="7498080" y="3456432"/>
            <a:ext cx="4144975" cy="685800"/>
          </a:xfrm>
          <a:prstGeom prst="rect">
            <a:avLst/>
          </a:prstGeom>
          <a:noFill/>
          <a:ln/>
        </p:spPr>
        <p:txBody>
          <a:bodyPr wrap="square" lIns="0" tIns="0" rIns="0" bIns="0" rtlCol="0" anchor="t"/>
          <a:lstStyle/>
          <a:p>
            <a:pPr indent="0" marL="0">
              <a:buNone/>
            </a:pPr>
            <a:r>
              <a:rPr lang="en-US" sz="1500" dirty="0">
                <a:solidFill>
                  <a:schemeClr val="bg1"/>
                </a:solidFill>
              </a:rPr>
              <a:t>Shadow pilot: 20 real fingerprints, one collision drill</a:t>
            </a:r>
            <a:endParaRPr lang="en-US" sz="1500" dirty="0"/>
          </a:p>
        </p:txBody>
      </p:sp>
      <p:sp>
        <p:nvSpPr>
          <p:cNvPr id="26" name="Shape 21"/>
          <p:cNvSpPr/>
          <p:nvPr/>
        </p:nvSpPr>
        <p:spPr>
          <a:xfrm>
            <a:off x="6995160" y="4251960"/>
            <a:ext cx="310896" cy="310896"/>
          </a:xfrm>
          <a:prstGeom prst="ellipse">
            <a:avLst/>
          </a:prstGeom>
          <a:solidFill>
            <a:schemeClr val="accent1"/>
          </a:solidFill>
          <a:ln w="12700">
            <a:solidFill>
              <a:schemeClr val="accent1"/>
            </a:solidFill>
            <a:prstDash val="solid"/>
          </a:ln>
        </p:spPr>
      </p:sp>
      <p:sp>
        <p:nvSpPr>
          <p:cNvPr id="27" name="Text 22"/>
          <p:cNvSpPr txBox="1"/>
          <p:nvPr/>
        </p:nvSpPr>
        <p:spPr>
          <a:xfrm>
            <a:off x="7498080" y="4270248"/>
            <a:ext cx="414497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WEEKS 9 TO 12</a:t>
            </a:r>
            <a:endParaRPr lang="en-US" sz="1100" dirty="0"/>
          </a:p>
        </p:txBody>
      </p:sp>
      <p:sp>
        <p:nvSpPr>
          <p:cNvPr id="28" name="Text 23"/>
          <p:cNvSpPr txBox="1"/>
          <p:nvPr/>
        </p:nvSpPr>
        <p:spPr>
          <a:xfrm>
            <a:off x="7498080" y="4599432"/>
            <a:ext cx="4144975" cy="685800"/>
          </a:xfrm>
          <a:prstGeom prst="rect">
            <a:avLst/>
          </a:prstGeom>
          <a:noFill/>
          <a:ln/>
        </p:spPr>
        <p:txBody>
          <a:bodyPr wrap="square" lIns="0" tIns="0" rIns="0" bIns="0" rtlCol="0" anchor="t"/>
          <a:lstStyle/>
          <a:p>
            <a:pPr indent="0" marL="0">
              <a:buNone/>
            </a:pPr>
            <a:r>
              <a:rPr lang="en-US" sz="1500" dirty="0">
                <a:solidFill>
                  <a:schemeClr val="bg1"/>
                </a:solidFill>
              </a:rPr>
              <a:t>First settled stablecoin draw on TestNet; Featured App application</a:t>
            </a:r>
            <a:endParaRPr lang="en-US" sz="15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anonnaes/Workspace/hackathon/canton/pledgeguard-pitch/img/mark-t.png">    </p:cNvPr>
          <p:cNvPicPr>
            <a:picLocks noChangeAspect="1"/>
          </p:cNvPicPr>
          <p:nvPr/>
        </p:nvPicPr>
        <p:blipFill>
          <a:blip r:embed="rId1"/>
          <a:stretch>
            <a:fillRect/>
          </a:stretch>
        </p:blipFill>
        <p:spPr>
          <a:xfrm>
            <a:off x="548640" y="1143000"/>
            <a:ext cx="822960" cy="822960"/>
          </a:xfrm>
          <a:prstGeom prst="rect">
            <a:avLst/>
          </a:prstGeom>
        </p:spPr>
      </p:pic>
      <p:sp>
        <p:nvSpPr>
          <p:cNvPr id="3" name="Text 0"/>
          <p:cNvSpPr/>
          <p:nvPr>
            <p:ph idx="100" type="title" hasCustomPrompt="1"/>
          </p:nvPr>
        </p:nvSpPr>
        <p:spPr>
          <a:xfrm>
            <a:off x="548640" y="2148840"/>
            <a:ext cx="6583680" cy="1005840"/>
          </a:xfrm>
          <a:prstGeom prst="rect">
            <a:avLst/>
          </a:prstGeom>
          <a:noFill/>
          <a:ln/>
        </p:spPr>
        <p:txBody>
          <a:bodyPr wrap="square" lIns="0" tIns="0" rIns="0" bIns="0" rtlCol="0" anchor="b"/>
          <a:lstStyle/>
          <a:p>
            <a:pPr algn="l" indent="0" marL="0">
              <a:buNone/>
            </a:pPr>
            <a:r>
              <a:rPr lang="en-US" sz="5400" b="1" dirty="0">
                <a:solidFill>
                  <a:schemeClr val="bg1"/>
                </a:solidFill>
              </a:rPr>
              <a:t>One collateral.</a:t>
            </a:r>
            <a:endParaRPr lang="en-US" sz="5400" dirty="0"/>
          </a:p>
        </p:txBody>
      </p:sp>
      <p:sp>
        <p:nvSpPr>
          <p:cNvPr id="4" name="Text 0"/>
          <p:cNvSpPr/>
          <p:nvPr>
            <p:ph idx="101" type="body" hasCustomPrompt="1"/>
          </p:nvPr>
        </p:nvSpPr>
        <p:spPr>
          <a:xfrm>
            <a:off x="548640" y="3246120"/>
            <a:ext cx="6400800" cy="685800"/>
          </a:xfrm>
          <a:prstGeom prst="rect">
            <a:avLst/>
          </a:prstGeom>
          <a:noFill/>
          <a:ln/>
        </p:spPr>
        <p:txBody>
          <a:bodyPr wrap="square" lIns="0" tIns="0" rIns="0" bIns="0" rtlCol="0"/>
          <a:lstStyle/>
          <a:p>
            <a:pPr algn="l" indent="0" marL="0">
              <a:buNone/>
            </a:pPr>
            <a:r>
              <a:rPr lang="en-US" sz="2800" i="1" dirty="0">
                <a:solidFill>
                  <a:schemeClr val="accent1"/>
                </a:solidFill>
                <a:latin typeface="Cambria" pitchFamily="34" charset="0"/>
                <a:ea typeface="Cambria" pitchFamily="34" charset="-122"/>
                <a:cs typeface="Cambria" pitchFamily="34" charset="-120"/>
              </a:rPr>
              <a:t>One live claim.</a:t>
            </a:r>
            <a:endParaRPr lang="en-US" sz="2800" dirty="0"/>
          </a:p>
        </p:txBody>
      </p:sp>
      <p:sp>
        <p:nvSpPr>
          <p:cNvPr id="5" name="Text 2"/>
          <p:cNvSpPr txBox="1"/>
          <p:nvPr/>
        </p:nvSpPr>
        <p:spPr>
          <a:xfrm>
            <a:off x="548640" y="4206240"/>
            <a:ext cx="18288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TRY IT</a:t>
            </a:r>
            <a:endParaRPr lang="en-US" sz="1100" dirty="0"/>
          </a:p>
        </p:txBody>
      </p:sp>
      <p:sp>
        <p:nvSpPr>
          <p:cNvPr id="6" name="Text 3"/>
          <p:cNvSpPr txBox="1"/>
          <p:nvPr/>
        </p:nvSpPr>
        <p:spPr>
          <a:xfrm>
            <a:off x="2011680" y="4160520"/>
            <a:ext cx="5486400" cy="365760"/>
          </a:xfrm>
          <a:prstGeom prst="rect">
            <a:avLst/>
          </a:prstGeom>
          <a:noFill/>
          <a:ln/>
        </p:spPr>
        <p:txBody>
          <a:bodyPr wrap="square" lIns="0" tIns="0" rIns="0" bIns="0" rtlCol="0" anchor="t"/>
          <a:lstStyle/>
          <a:p>
            <a:pPr indent="0" marL="0">
              <a:buNone/>
            </a:pPr>
            <a:r>
              <a:rPr lang="en-US" sz="18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pledgeguard.fyra.fun/app</a:t>
            </a:r>
            <a:endParaRPr lang="en-US" sz="1800" dirty="0"/>
          </a:p>
        </p:txBody>
      </p:sp>
      <p:sp>
        <p:nvSpPr>
          <p:cNvPr id="7" name="Text 4"/>
          <p:cNvSpPr txBox="1"/>
          <p:nvPr/>
        </p:nvSpPr>
        <p:spPr>
          <a:xfrm>
            <a:off x="548640" y="4892040"/>
            <a:ext cx="18288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CODE</a:t>
            </a:r>
            <a:endParaRPr lang="en-US" sz="1100" dirty="0"/>
          </a:p>
        </p:txBody>
      </p:sp>
      <p:sp>
        <p:nvSpPr>
          <p:cNvPr id="8" name="Text 5"/>
          <p:cNvSpPr txBox="1"/>
          <p:nvPr/>
        </p:nvSpPr>
        <p:spPr>
          <a:xfrm>
            <a:off x="2011680" y="4846320"/>
            <a:ext cx="5486400" cy="365760"/>
          </a:xfrm>
          <a:prstGeom prst="rect">
            <a:avLst/>
          </a:prstGeom>
          <a:noFill/>
          <a:ln/>
        </p:spPr>
        <p:txBody>
          <a:bodyPr wrap="square" lIns="0" tIns="0" rIns="0" bIns="0" rtlCol="0" anchor="t"/>
          <a:lstStyle/>
          <a:p>
            <a:pPr indent="0" marL="0">
              <a:buNone/>
            </a:pPr>
            <a:r>
              <a:rPr lang="en-US" sz="18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github.com/4n0nn43x/pledgeguard</a:t>
            </a:r>
            <a:endParaRPr lang="en-US" sz="1800" dirty="0"/>
          </a:p>
        </p:txBody>
      </p:sp>
      <p:sp>
        <p:nvSpPr>
          <p:cNvPr id="9" name="Shape 6"/>
          <p:cNvSpPr/>
          <p:nvPr/>
        </p:nvSpPr>
        <p:spPr>
          <a:xfrm>
            <a:off x="7031736" y="1271016"/>
            <a:ext cx="4681728" cy="2681478"/>
          </a:xfrm>
          <a:prstGeom prst="roundRect">
            <a:avLst>
              <a:gd name="adj" fmla="val 2046"/>
            </a:avLst>
          </a:prstGeom>
          <a:solidFill>
            <a:schemeClr val="tx2"/>
          </a:solidFill>
          <a:ln w="9525">
            <a:solidFill>
              <a:schemeClr val="accent1"/>
            </a:solidFill>
            <a:prstDash val="solid"/>
          </a:ln>
        </p:spPr>
      </p:sp>
      <p:pic>
        <p:nvPicPr>
          <p:cNvPr id="10" name="Image 1" descr="/home/anonnaes/Workspace/hackathon/canton/pledgeguard-pitch/img/visibility.png">    </p:cNvPr>
          <p:cNvPicPr>
            <a:picLocks noChangeAspect="1"/>
          </p:cNvPicPr>
          <p:nvPr/>
        </p:nvPicPr>
        <p:blipFill>
          <a:blip r:embed="rId4"/>
          <a:stretch>
            <a:fillRect/>
          </a:stretch>
        </p:blipFill>
        <p:spPr>
          <a:xfrm>
            <a:off x="7086600" y="1325880"/>
            <a:ext cx="4572000" cy="2571750"/>
          </a:xfrm>
          <a:prstGeom prst="rect">
            <a:avLst/>
          </a:prstGeom>
        </p:spPr>
      </p:pic>
      <p:sp>
        <p:nvSpPr>
          <p:cNvPr id="11" name="Text 7"/>
          <p:cNvSpPr txBox="1"/>
          <p:nvPr/>
        </p:nvSpPr>
        <p:spPr>
          <a:xfrm>
            <a:off x="7086600" y="4069080"/>
            <a:ext cx="4572000" cy="548640"/>
          </a:xfrm>
          <a:prstGeom prst="rect">
            <a:avLst/>
          </a:prstGeom>
          <a:noFill/>
          <a:ln/>
        </p:spPr>
        <p:txBody>
          <a:bodyPr wrap="square" lIns="0" tIns="0" rIns="0" bIns="0" rtlCol="0" anchor="t"/>
          <a:lstStyle/>
          <a:p>
            <a:pPr indent="0" marL="0">
              <a:buNone/>
            </a:pPr>
            <a:r>
              <a:rPr lang="en-US" sz="1200" i="1" dirty="0">
                <a:solidFill>
                  <a:schemeClr val="bg2"/>
                </a:solidFill>
              </a:rPr>
              <a:t>Who sees what, counted from each organisation's own ledger view.</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Each organisation sees only its own contracts</a:t>
            </a:r>
            <a:endParaRPr lang="en-US" sz="3200" dirty="0"/>
          </a:p>
        </p:txBody>
      </p:sp>
      <p:sp>
        <p:nvSpPr>
          <p:cNvPr id="3" name="Text 1"/>
          <p:cNvSpPr txBox="1"/>
          <p:nvPr/>
        </p:nvSpPr>
        <p:spPr>
          <a:xfrm>
            <a:off x="9814255" y="6309360"/>
            <a:ext cx="1188720" cy="256032"/>
          </a:xfrm>
          <a:prstGeom prst="rect">
            <a:avLst/>
          </a:prstGeom>
          <a:noFill/>
          <a:ln/>
        </p:spPr>
        <p:txBody>
          <a:bodyPr wrap="square" lIns="0" tIns="0" rIns="0" bIns="0" rtlCol="0" anchor="ctr"/>
          <a:lstStyle/>
          <a:p>
            <a:pPr algn="r" indent="0" marL="0">
              <a:buNone/>
            </a:pPr>
            <a:r>
              <a:rPr lang="en-US" sz="1000" b="1" spc="300" kern="0" dirty="0">
                <a:solidFill>
                  <a:schemeClr val="accent5"/>
                </a:solidFill>
              </a:rPr>
              <a:t>APPENDIX</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017520"/>
                <a:gridCol w="1463040"/>
                <a:gridCol w="1600200"/>
                <a:gridCol w="1600200"/>
                <a:gridCol w="1783080"/>
                <a:gridCol w="1630375"/>
              </a:tblGrid>
              <a:tr h="56692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Contract</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Borrower</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First lender</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Second lender</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Registry operator</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Auditor</a:t>
                      </a:r>
                      <a:endParaRPr lang="en-US" sz="13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Collateral fingerprint</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Facility (amount, rate, maturity)</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its own</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its own</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Live pledge</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its own</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its own</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Double-pledge alert</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its own</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its own</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37160" marR="137160" marT="0" marB="0" anchor="ctr">
                    <a:lnL w="9525" cap="flat" cmpd="sng" algn="ctr">
                      <a:solidFill>
                        <a:srgbClr val="2A2E36"/>
                      </a:solidFill>
                      <a:prstDash val="solid"/>
                      <a:round/>
                      <a:headEnd type="none" w="med" len="med"/>
                      <a:tailEnd type="none" w="med" len="med"/>
                    </a:lnL>
                    <a:lnR w="9525" cap="flat" cmpd="sng" algn="ctr">
                      <a:solidFill>
                        <a:srgbClr val="2A2E36"/>
                      </a:solidFill>
                      <a:prstDash val="solid"/>
                      <a:round/>
                      <a:headEnd type="none" w="med" len="med"/>
                      <a:tailEnd type="none" w="med" len="med"/>
                    </a:lnR>
                    <a:lnT w="9525" cap="flat" cmpd="sng" algn="ctr">
                      <a:solidFill>
                        <a:srgbClr val="2A2E36"/>
                      </a:solidFill>
                      <a:prstDash val="solid"/>
                      <a:round/>
                      <a:headEnd type="none" w="med" len="med"/>
                      <a:tailEnd type="none" w="med" len="med"/>
                    </a:lnT>
                    <a:lnB w="9525" cap="flat" cmpd="sng" algn="ctr">
                      <a:solidFill>
                        <a:srgbClr val="2A2E36"/>
                      </a:solidFill>
                      <a:prstDash val="solid"/>
                      <a:round/>
                      <a:headEnd type="none" w="med" len="med"/>
                      <a:tailEnd type="none" w="med" len="med"/>
                    </a:lnB>
                    <a:solidFill>
                      <a:schemeClr val="tx1"/>
                    </a:solidFill>
                  </a:tcPr>
                </a:tc>
              </a:tr>
            </a:tbl>
          </a:graphicData>
        </a:graphic>
      </p:graphicFrame>
      <p:sp>
        <p:nvSpPr>
          <p:cNvPr id="5" name="Shape 2"/>
          <p:cNvSpPr/>
          <p:nvPr/>
        </p:nvSpPr>
        <p:spPr>
          <a:xfrm>
            <a:off x="548640" y="4754880"/>
            <a:ext cx="502920" cy="5029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659282" y="4865522"/>
            <a:ext cx="281635" cy="281635"/>
          </a:xfrm>
          <a:prstGeom prst="rect">
            <a:avLst/>
          </a:prstGeom>
        </p:spPr>
      </p:pic>
      <p:sp>
        <p:nvSpPr>
          <p:cNvPr id="7" name="Text 3"/>
          <p:cNvSpPr txBox="1"/>
          <p:nvPr/>
        </p:nvSpPr>
        <p:spPr>
          <a:xfrm>
            <a:off x="1280160" y="4773168"/>
            <a:ext cx="10332720" cy="731520"/>
          </a:xfrm>
          <a:prstGeom prst="rect">
            <a:avLst/>
          </a:prstGeom>
          <a:noFill/>
          <a:ln/>
        </p:spPr>
        <p:txBody>
          <a:bodyPr wrap="square" lIns="0" tIns="0" rIns="0" bIns="0" rtlCol="0" anchor="t"/>
          <a:lstStyle/>
          <a:p>
            <a:pPr indent="0" marL="0">
              <a:buNone/>
            </a:pPr>
            <a:r>
              <a:rPr lang="en-US" sz="1600" dirty="0">
                <a:solidFill>
                  <a:schemeClr val="bg2"/>
                </a:solidFill>
              </a:rPr>
              <a:t>Not a screen filter: each column is what that organisation's own ledger view returns. The registry operator and the auditor never receive a single loan.</a:t>
            </a:r>
            <a:endParaRPr lang="en-US" sz="16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Why this only works on Canton</a:t>
            </a:r>
            <a:endParaRPr lang="en-US" sz="3200" dirty="0"/>
          </a:p>
        </p:txBody>
      </p:sp>
      <p:sp>
        <p:nvSpPr>
          <p:cNvPr id="3" name="Text 1"/>
          <p:cNvSpPr txBox="1"/>
          <p:nvPr/>
        </p:nvSpPr>
        <p:spPr>
          <a:xfrm>
            <a:off x="9814255" y="6309360"/>
            <a:ext cx="1188720" cy="256032"/>
          </a:xfrm>
          <a:prstGeom prst="rect">
            <a:avLst/>
          </a:prstGeom>
          <a:noFill/>
          <a:ln/>
        </p:spPr>
        <p:txBody>
          <a:bodyPr wrap="square" lIns="0" tIns="0" rIns="0" bIns="0" rtlCol="0" anchor="ctr"/>
          <a:lstStyle/>
          <a:p>
            <a:pPr algn="r" indent="0" marL="0">
              <a:buNone/>
            </a:pPr>
            <a:r>
              <a:rPr lang="en-US" sz="1000" b="1" spc="300" kern="0" dirty="0">
                <a:solidFill>
                  <a:schemeClr val="accent5"/>
                </a:solidFill>
              </a:rPr>
              <a:t>APPENDIX</a:t>
            </a:r>
            <a:endParaRPr lang="en-US" sz="1000" dirty="0"/>
          </a:p>
        </p:txBody>
      </p:sp>
      <p:sp>
        <p:nvSpPr>
          <p:cNvPr id="4" name="why-0"/>
          <p:cNvSpPr/>
          <p:nvPr/>
        </p:nvSpPr>
        <p:spPr>
          <a:xfrm>
            <a:off x="548640" y="1554480"/>
            <a:ext cx="5394960" cy="2103120"/>
          </a:xfrm>
          <a:prstGeom prst="roundRect">
            <a:avLst>
              <a:gd name="adj" fmla="val 3478"/>
            </a:avLst>
          </a:prstGeom>
          <a:solidFill>
            <a:schemeClr val="tx2"/>
          </a:solidFill>
          <a:ln w="9525">
            <a:solidFill>
              <a:schemeClr val="accent6"/>
            </a:solidFill>
            <a:prstDash val="solid"/>
          </a:ln>
        </p:spPr>
      </p:sp>
      <p:sp>
        <p:nvSpPr>
          <p:cNvPr id="5" name="Shape 3"/>
          <p:cNvSpPr/>
          <p:nvPr/>
        </p:nvSpPr>
        <p:spPr>
          <a:xfrm>
            <a:off x="868680" y="1965960"/>
            <a:ext cx="685800" cy="6858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19556" y="2116836"/>
            <a:ext cx="384048" cy="384048"/>
          </a:xfrm>
          <a:prstGeom prst="rect">
            <a:avLst/>
          </a:prstGeom>
        </p:spPr>
      </p:pic>
      <p:sp>
        <p:nvSpPr>
          <p:cNvPr id="7" name="Text 4"/>
          <p:cNvSpPr txBox="1"/>
          <p:nvPr/>
        </p:nvSpPr>
        <p:spPr>
          <a:xfrm>
            <a:off x="1783080" y="1965960"/>
            <a:ext cx="3840480" cy="457200"/>
          </a:xfrm>
          <a:prstGeom prst="rect">
            <a:avLst/>
          </a:prstGeom>
          <a:noFill/>
          <a:ln/>
        </p:spPr>
        <p:txBody>
          <a:bodyPr wrap="square" lIns="0" tIns="0" rIns="0" bIns="0" rtlCol="0" anchor="t"/>
          <a:lstStyle/>
          <a:p>
            <a:pPr indent="0" marL="0">
              <a:buNone/>
            </a:pPr>
            <a:r>
              <a:rPr lang="en-US" sz="2100" b="1" dirty="0">
                <a:solidFill>
                  <a:schemeClr val="bg1"/>
                </a:solidFill>
              </a:rPr>
              <a:t>Sub-transaction privacy</a:t>
            </a:r>
            <a:endParaRPr lang="en-US" sz="2100" dirty="0"/>
          </a:p>
        </p:txBody>
      </p:sp>
      <p:sp>
        <p:nvSpPr>
          <p:cNvPr id="8" name="Text 5"/>
          <p:cNvSpPr txBox="1"/>
          <p:nvPr/>
        </p:nvSpPr>
        <p:spPr>
          <a:xfrm>
            <a:off x="1783080" y="2468880"/>
            <a:ext cx="3840480" cy="1051560"/>
          </a:xfrm>
          <a:prstGeom prst="rect">
            <a:avLst/>
          </a:prstGeom>
          <a:noFill/>
          <a:ln/>
        </p:spPr>
        <p:txBody>
          <a:bodyPr wrap="square" lIns="0" tIns="0" rIns="0" bIns="0" rtlCol="0" anchor="t"/>
          <a:lstStyle/>
          <a:p>
            <a:pPr indent="0" marL="0">
              <a:buNone/>
            </a:pPr>
            <a:r>
              <a:rPr lang="en-US" sz="1600" dirty="0">
                <a:solidFill>
                  <a:schemeClr val="bg2"/>
                </a:solidFill>
              </a:rPr>
              <a:t>Each lender gets its own view of the ledger: the other lender's facility never even exists for it.</a:t>
            </a:r>
            <a:endParaRPr lang="en-US" sz="1600" dirty="0"/>
          </a:p>
        </p:txBody>
      </p:sp>
      <p:sp>
        <p:nvSpPr>
          <p:cNvPr id="9" name="why-1"/>
          <p:cNvSpPr/>
          <p:nvPr/>
        </p:nvSpPr>
        <p:spPr>
          <a:xfrm>
            <a:off x="6172200" y="1554480"/>
            <a:ext cx="5394960" cy="2103120"/>
          </a:xfrm>
          <a:prstGeom prst="roundRect">
            <a:avLst>
              <a:gd name="adj" fmla="val 3478"/>
            </a:avLst>
          </a:prstGeom>
          <a:solidFill>
            <a:schemeClr val="tx2"/>
          </a:solidFill>
          <a:ln w="9525">
            <a:solidFill>
              <a:schemeClr val="accent6"/>
            </a:solidFill>
            <a:prstDash val="solid"/>
          </a:ln>
        </p:spPr>
      </p:sp>
      <p:sp>
        <p:nvSpPr>
          <p:cNvPr id="10" name="Shape 7"/>
          <p:cNvSpPr/>
          <p:nvPr/>
        </p:nvSpPr>
        <p:spPr>
          <a:xfrm>
            <a:off x="6492240" y="1965960"/>
            <a:ext cx="685800" cy="6858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643116" y="2116836"/>
            <a:ext cx="384048" cy="384048"/>
          </a:xfrm>
          <a:prstGeom prst="rect">
            <a:avLst/>
          </a:prstGeom>
        </p:spPr>
      </p:pic>
      <p:sp>
        <p:nvSpPr>
          <p:cNvPr id="12" name="Text 8"/>
          <p:cNvSpPr txBox="1"/>
          <p:nvPr/>
        </p:nvSpPr>
        <p:spPr>
          <a:xfrm>
            <a:off x="7406640" y="1965960"/>
            <a:ext cx="3840480" cy="457200"/>
          </a:xfrm>
          <a:prstGeom prst="rect">
            <a:avLst/>
          </a:prstGeom>
          <a:noFill/>
          <a:ln/>
        </p:spPr>
        <p:txBody>
          <a:bodyPr wrap="square" lIns="0" tIns="0" rIns="0" bIns="0" rtlCol="0" anchor="t"/>
          <a:lstStyle/>
          <a:p>
            <a:pPr indent="0" marL="0">
              <a:buNone/>
            </a:pPr>
            <a:r>
              <a:rPr lang="en-US" sz="2100" b="1" dirty="0">
                <a:solidFill>
                  <a:schemeClr val="bg1"/>
                </a:solidFill>
              </a:rPr>
              <a:t>A registry blind to loans</a:t>
            </a:r>
            <a:endParaRPr lang="en-US" sz="2100" dirty="0"/>
          </a:p>
        </p:txBody>
      </p:sp>
      <p:sp>
        <p:nvSpPr>
          <p:cNvPr id="13" name="Text 9"/>
          <p:cNvSpPr txBox="1"/>
          <p:nvPr/>
        </p:nvSpPr>
        <p:spPr>
          <a:xfrm>
            <a:off x="7406640" y="2468880"/>
            <a:ext cx="3840480" cy="1051560"/>
          </a:xfrm>
          <a:prstGeom prst="rect">
            <a:avLst/>
          </a:prstGeom>
          <a:noFill/>
          <a:ln/>
        </p:spPr>
        <p:txBody>
          <a:bodyPr wrap="square" lIns="0" tIns="0" rIns="0" bIns="0" rtlCol="0" anchor="t"/>
          <a:lstStyle/>
          <a:p>
            <a:pPr indent="0" marL="0">
              <a:buNone/>
            </a:pPr>
            <a:r>
              <a:rPr lang="en-US" sz="1600" dirty="0">
                <a:solidFill>
                  <a:schemeClr val="bg2"/>
                </a:solidFill>
              </a:rPr>
              <a:t>A neutral registry party signs the collision check without being a party to any facility.</a:t>
            </a:r>
            <a:endParaRPr lang="en-US" sz="1600" dirty="0"/>
          </a:p>
        </p:txBody>
      </p:sp>
      <p:sp>
        <p:nvSpPr>
          <p:cNvPr id="14" name="why-2"/>
          <p:cNvSpPr/>
          <p:nvPr/>
        </p:nvSpPr>
        <p:spPr>
          <a:xfrm>
            <a:off x="548640" y="3886200"/>
            <a:ext cx="5394960" cy="2103120"/>
          </a:xfrm>
          <a:prstGeom prst="roundRect">
            <a:avLst>
              <a:gd name="adj" fmla="val 3478"/>
            </a:avLst>
          </a:prstGeom>
          <a:solidFill>
            <a:schemeClr val="tx2"/>
          </a:solidFill>
          <a:ln w="9525">
            <a:solidFill>
              <a:schemeClr val="accent6"/>
            </a:solidFill>
            <a:prstDash val="solid"/>
          </a:ln>
        </p:spPr>
      </p:sp>
      <p:sp>
        <p:nvSpPr>
          <p:cNvPr id="15" name="Shape 11"/>
          <p:cNvSpPr/>
          <p:nvPr/>
        </p:nvSpPr>
        <p:spPr>
          <a:xfrm>
            <a:off x="868680" y="4297680"/>
            <a:ext cx="685800" cy="6858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1019556" y="4448556"/>
            <a:ext cx="384048" cy="384048"/>
          </a:xfrm>
          <a:prstGeom prst="rect">
            <a:avLst/>
          </a:prstGeom>
        </p:spPr>
      </p:pic>
      <p:sp>
        <p:nvSpPr>
          <p:cNvPr id="17" name="Text 12"/>
          <p:cNvSpPr txBox="1"/>
          <p:nvPr/>
        </p:nvSpPr>
        <p:spPr>
          <a:xfrm>
            <a:off x="1783080" y="4297680"/>
            <a:ext cx="3840480" cy="457200"/>
          </a:xfrm>
          <a:prstGeom prst="rect">
            <a:avLst/>
          </a:prstGeom>
          <a:noFill/>
          <a:ln/>
        </p:spPr>
        <p:txBody>
          <a:bodyPr wrap="square" lIns="0" tIns="0" rIns="0" bIns="0" rtlCol="0" anchor="t"/>
          <a:lstStyle/>
          <a:p>
            <a:pPr indent="0" marL="0">
              <a:buNone/>
            </a:pPr>
            <a:r>
              <a:rPr lang="en-US" sz="2100" b="1" dirty="0">
                <a:solidFill>
                  <a:schemeClr val="bg1"/>
                </a:solidFill>
              </a:rPr>
              <a:t>Atomic check and payment</a:t>
            </a:r>
            <a:endParaRPr lang="en-US" sz="2100" dirty="0"/>
          </a:p>
        </p:txBody>
      </p:sp>
      <p:sp>
        <p:nvSpPr>
          <p:cNvPr id="18" name="Text 13"/>
          <p:cNvSpPr txBox="1"/>
          <p:nvPr/>
        </p:nvSpPr>
        <p:spPr>
          <a:xfrm>
            <a:off x="1783080" y="4800600"/>
            <a:ext cx="3840480" cy="1051560"/>
          </a:xfrm>
          <a:prstGeom prst="rect">
            <a:avLst/>
          </a:prstGeom>
          <a:noFill/>
          <a:ln/>
        </p:spPr>
        <p:txBody>
          <a:bodyPr wrap="square" lIns="0" tIns="0" rIns="0" bIns="0" rtlCol="0" anchor="t"/>
          <a:lstStyle/>
          <a:p>
            <a:pPr indent="0" marL="0">
              <a:buNone/>
            </a:pPr>
            <a:r>
              <a:rPr lang="en-US" sz="1600" dirty="0">
                <a:solidFill>
                  <a:schemeClr val="bg2"/>
                </a:solidFill>
              </a:rPr>
              <a:t>The check and the Canton token-standard transfer are atomic: a colliding draw simply does not fund. No race.</a:t>
            </a:r>
            <a:endParaRPr lang="en-US" sz="1600" dirty="0"/>
          </a:p>
        </p:txBody>
      </p:sp>
      <p:sp>
        <p:nvSpPr>
          <p:cNvPr id="19" name="why-3"/>
          <p:cNvSpPr/>
          <p:nvPr/>
        </p:nvSpPr>
        <p:spPr>
          <a:xfrm>
            <a:off x="6172200" y="3886200"/>
            <a:ext cx="5394960" cy="2103120"/>
          </a:xfrm>
          <a:prstGeom prst="roundRect">
            <a:avLst>
              <a:gd name="adj" fmla="val 3478"/>
            </a:avLst>
          </a:prstGeom>
          <a:solidFill>
            <a:schemeClr val="tx2"/>
          </a:solidFill>
          <a:ln w="9525">
            <a:solidFill>
              <a:schemeClr val="accent6"/>
            </a:solidFill>
            <a:prstDash val="solid"/>
          </a:ln>
        </p:spPr>
      </p:sp>
      <p:sp>
        <p:nvSpPr>
          <p:cNvPr id="20" name="Shape 15"/>
          <p:cNvSpPr/>
          <p:nvPr/>
        </p:nvSpPr>
        <p:spPr>
          <a:xfrm>
            <a:off x="6492240" y="4297680"/>
            <a:ext cx="685800" cy="6858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6643116" y="4448556"/>
            <a:ext cx="384048" cy="384048"/>
          </a:xfrm>
          <a:prstGeom prst="rect">
            <a:avLst/>
          </a:prstGeom>
        </p:spPr>
      </p:pic>
      <p:sp>
        <p:nvSpPr>
          <p:cNvPr id="22" name="Text 16"/>
          <p:cNvSpPr txBox="1"/>
          <p:nvPr/>
        </p:nvSpPr>
        <p:spPr>
          <a:xfrm>
            <a:off x="7406640" y="4297680"/>
            <a:ext cx="3840480" cy="457200"/>
          </a:xfrm>
          <a:prstGeom prst="rect">
            <a:avLst/>
          </a:prstGeom>
          <a:noFill/>
          <a:ln/>
        </p:spPr>
        <p:txBody>
          <a:bodyPr wrap="square" lIns="0" tIns="0" rIns="0" bIns="0" rtlCol="0" anchor="t"/>
          <a:lstStyle/>
          <a:p>
            <a:pPr indent="0" marL="0">
              <a:buNone/>
            </a:pPr>
            <a:r>
              <a:rPr lang="en-US" sz="2100" b="1" dirty="0">
                <a:solidFill>
                  <a:schemeClr val="bg1"/>
                </a:solidFill>
              </a:rPr>
              <a:t>No single operator</a:t>
            </a:r>
            <a:endParaRPr lang="en-US" sz="2100" dirty="0"/>
          </a:p>
        </p:txBody>
      </p:sp>
      <p:sp>
        <p:nvSpPr>
          <p:cNvPr id="23" name="Text 17"/>
          <p:cNvSpPr txBox="1"/>
          <p:nvPr/>
        </p:nvSpPr>
        <p:spPr>
          <a:xfrm>
            <a:off x="7406640" y="4800600"/>
            <a:ext cx="3840480" cy="1051560"/>
          </a:xfrm>
          <a:prstGeom prst="rect">
            <a:avLst/>
          </a:prstGeom>
          <a:noFill/>
          <a:ln/>
        </p:spPr>
        <p:txBody>
          <a:bodyPr wrap="square" lIns="0" tIns="0" rIns="0" bIns="0" rtlCol="0" anchor="t"/>
          <a:lstStyle/>
          <a:p>
            <a:pPr indent="0" marL="0">
              <a:buNone/>
            </a:pPr>
            <a:r>
              <a:rPr lang="en-US" sz="1600" dirty="0">
                <a:solidFill>
                  <a:schemeClr val="bg2"/>
                </a:solidFill>
              </a:rPr>
              <a:t>The registry runs as a Canton decentralized party: anything sensitive needs two of three members.</a:t>
            </a:r>
            <a:endParaRPr lang="en-US" sz="16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A registry no single institution controls</a:t>
            </a:r>
            <a:endParaRPr lang="en-US" sz="3200" dirty="0"/>
          </a:p>
        </p:txBody>
      </p:sp>
      <p:sp>
        <p:nvSpPr>
          <p:cNvPr id="3" name="Text 1"/>
          <p:cNvSpPr txBox="1"/>
          <p:nvPr/>
        </p:nvSpPr>
        <p:spPr>
          <a:xfrm>
            <a:off x="9814255" y="6309360"/>
            <a:ext cx="1188720" cy="256032"/>
          </a:xfrm>
          <a:prstGeom prst="rect">
            <a:avLst/>
          </a:prstGeom>
          <a:noFill/>
          <a:ln/>
        </p:spPr>
        <p:txBody>
          <a:bodyPr wrap="square" lIns="0" tIns="0" rIns="0" bIns="0" rtlCol="0" anchor="ctr"/>
          <a:lstStyle/>
          <a:p>
            <a:pPr algn="r" indent="0" marL="0">
              <a:buNone/>
            </a:pPr>
            <a:r>
              <a:rPr lang="en-US" sz="1000" b="1" spc="300" kern="0" dirty="0">
                <a:solidFill>
                  <a:schemeClr val="accent5"/>
                </a:solidFill>
              </a:rPr>
              <a:t>APPENDIX</a:t>
            </a:r>
            <a:endParaRPr lang="en-US" sz="1000" dirty="0"/>
          </a:p>
        </p:txBody>
      </p:sp>
      <p:sp>
        <p:nvSpPr>
          <p:cNvPr id="4" name="Shape 2"/>
          <p:cNvSpPr/>
          <p:nvPr/>
        </p:nvSpPr>
        <p:spPr>
          <a:xfrm>
            <a:off x="1371600" y="2194560"/>
            <a:ext cx="1737360" cy="1234440"/>
          </a:xfrm>
          <a:prstGeom prst="line">
            <a:avLst/>
          </a:prstGeom>
          <a:noFill/>
          <a:ln w="12700">
            <a:solidFill>
              <a:schemeClr val="accent5"/>
            </a:solidFill>
            <a:prstDash val="solid"/>
          </a:ln>
        </p:spPr>
      </p:sp>
      <p:sp>
        <p:nvSpPr>
          <p:cNvPr id="5" name="Shape 3"/>
          <p:cNvSpPr/>
          <p:nvPr/>
        </p:nvSpPr>
        <p:spPr>
          <a:xfrm flipH="1">
            <a:off x="3108960" y="2194560"/>
            <a:ext cx="1737360" cy="1234440"/>
          </a:xfrm>
          <a:prstGeom prst="line">
            <a:avLst/>
          </a:prstGeom>
          <a:noFill/>
          <a:ln w="12700">
            <a:solidFill>
              <a:schemeClr val="accent5"/>
            </a:solidFill>
            <a:prstDash val="solid"/>
          </a:ln>
        </p:spPr>
      </p:sp>
      <p:sp>
        <p:nvSpPr>
          <p:cNvPr id="6" name="Shape 4"/>
          <p:cNvSpPr/>
          <p:nvPr/>
        </p:nvSpPr>
        <p:spPr>
          <a:xfrm>
            <a:off x="3108960" y="3429000"/>
            <a:ext cx="914" cy="1417320"/>
          </a:xfrm>
          <a:prstGeom prst="line">
            <a:avLst/>
          </a:prstGeom>
          <a:noFill/>
          <a:ln w="12700">
            <a:solidFill>
              <a:schemeClr val="accent5"/>
            </a:solidFill>
            <a:prstDash val="solid"/>
          </a:ln>
        </p:spPr>
      </p:sp>
      <p:sp>
        <p:nvSpPr>
          <p:cNvPr id="7" name="Shape 5"/>
          <p:cNvSpPr/>
          <p:nvPr/>
        </p:nvSpPr>
        <p:spPr>
          <a:xfrm>
            <a:off x="868680" y="1691640"/>
            <a:ext cx="1005840" cy="1005840"/>
          </a:xfrm>
          <a:prstGeom prst="ellipse">
            <a:avLst/>
          </a:prstGeom>
          <a:solidFill>
            <a:schemeClr val="tx2"/>
          </a:solidFill>
          <a:ln w="12700">
            <a:solidFill>
              <a:schemeClr val="accent1"/>
            </a:solidFill>
            <a:prstDash val="solid"/>
          </a:ln>
        </p:spPr>
      </p:sp>
      <p:sp>
        <p:nvSpPr>
          <p:cNvPr id="8" name="Text 6"/>
          <p:cNvSpPr txBox="1"/>
          <p:nvPr/>
        </p:nvSpPr>
        <p:spPr>
          <a:xfrm>
            <a:off x="640080" y="2761488"/>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Member 1</a:t>
            </a:r>
            <a:endParaRPr lang="en-US" sz="1200" dirty="0"/>
          </a:p>
        </p:txBody>
      </p:sp>
      <p:pic>
        <p:nvPicPr>
          <p:cNvPr id="9" name="Image 0" descr="preencoded.png">    </p:cNvPr>
          <p:cNvPicPr>
            <a:picLocks noChangeAspect="1"/>
          </p:cNvPicPr>
          <p:nvPr/>
        </p:nvPicPr>
        <p:blipFill>
          <a:blip r:embed="rId1"/>
          <a:stretch>
            <a:fillRect/>
          </a:stretch>
        </p:blipFill>
        <p:spPr>
          <a:xfrm>
            <a:off x="1143000" y="1965960"/>
            <a:ext cx="457200" cy="457200"/>
          </a:xfrm>
          <a:prstGeom prst="rect">
            <a:avLst/>
          </a:prstGeom>
        </p:spPr>
      </p:pic>
      <p:sp>
        <p:nvSpPr>
          <p:cNvPr id="10" name="Shape 7"/>
          <p:cNvSpPr/>
          <p:nvPr/>
        </p:nvSpPr>
        <p:spPr>
          <a:xfrm>
            <a:off x="4343400" y="1691640"/>
            <a:ext cx="1005840" cy="1005840"/>
          </a:xfrm>
          <a:prstGeom prst="ellipse">
            <a:avLst/>
          </a:prstGeom>
          <a:solidFill>
            <a:schemeClr val="tx2"/>
          </a:solidFill>
          <a:ln w="12700">
            <a:solidFill>
              <a:schemeClr val="accent1"/>
            </a:solidFill>
            <a:prstDash val="solid"/>
          </a:ln>
        </p:spPr>
      </p:sp>
      <p:sp>
        <p:nvSpPr>
          <p:cNvPr id="11" name="Text 8"/>
          <p:cNvSpPr txBox="1"/>
          <p:nvPr/>
        </p:nvSpPr>
        <p:spPr>
          <a:xfrm>
            <a:off x="4114800" y="2761488"/>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Member 2</a:t>
            </a:r>
            <a:endParaRPr lang="en-US" sz="1200" dirty="0"/>
          </a:p>
        </p:txBody>
      </p:sp>
      <p:pic>
        <p:nvPicPr>
          <p:cNvPr id="12" name="Image 1" descr="preencoded.png">    </p:cNvPr>
          <p:cNvPicPr>
            <a:picLocks noChangeAspect="1"/>
          </p:cNvPicPr>
          <p:nvPr/>
        </p:nvPicPr>
        <p:blipFill>
          <a:blip r:embed="rId2"/>
          <a:stretch>
            <a:fillRect/>
          </a:stretch>
        </p:blipFill>
        <p:spPr>
          <a:xfrm>
            <a:off x="4617720" y="1965960"/>
            <a:ext cx="457200" cy="457200"/>
          </a:xfrm>
          <a:prstGeom prst="rect">
            <a:avLst/>
          </a:prstGeom>
        </p:spPr>
      </p:pic>
      <p:sp>
        <p:nvSpPr>
          <p:cNvPr id="13" name="Shape 9"/>
          <p:cNvSpPr/>
          <p:nvPr/>
        </p:nvSpPr>
        <p:spPr>
          <a:xfrm>
            <a:off x="2606040" y="4343400"/>
            <a:ext cx="1005840" cy="1005840"/>
          </a:xfrm>
          <a:prstGeom prst="ellipse">
            <a:avLst/>
          </a:prstGeom>
          <a:solidFill>
            <a:schemeClr val="tx2"/>
          </a:solidFill>
          <a:ln w="12700">
            <a:solidFill>
              <a:schemeClr val="accent1"/>
            </a:solidFill>
            <a:prstDash val="solid"/>
          </a:ln>
        </p:spPr>
      </p:sp>
      <p:sp>
        <p:nvSpPr>
          <p:cNvPr id="14" name="Text 10"/>
          <p:cNvSpPr txBox="1"/>
          <p:nvPr/>
        </p:nvSpPr>
        <p:spPr>
          <a:xfrm>
            <a:off x="2377440" y="5413248"/>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Member 3</a:t>
            </a:r>
            <a:endParaRPr lang="en-US" sz="1200" dirty="0"/>
          </a:p>
        </p:txBody>
      </p:sp>
      <p:pic>
        <p:nvPicPr>
          <p:cNvPr id="15" name="Image 2" descr="preencoded.png">    </p:cNvPr>
          <p:cNvPicPr>
            <a:picLocks noChangeAspect="1"/>
          </p:cNvPicPr>
          <p:nvPr/>
        </p:nvPicPr>
        <p:blipFill>
          <a:blip r:embed="rId3"/>
          <a:stretch>
            <a:fillRect/>
          </a:stretch>
        </p:blipFill>
        <p:spPr>
          <a:xfrm>
            <a:off x="2880360" y="4617720"/>
            <a:ext cx="457200" cy="457200"/>
          </a:xfrm>
          <a:prstGeom prst="rect">
            <a:avLst/>
          </a:prstGeom>
        </p:spPr>
      </p:pic>
      <p:sp>
        <p:nvSpPr>
          <p:cNvPr id="16" name="Shape 11"/>
          <p:cNvSpPr/>
          <p:nvPr/>
        </p:nvSpPr>
        <p:spPr>
          <a:xfrm>
            <a:off x="2468880" y="2788920"/>
            <a:ext cx="1280160" cy="1280160"/>
          </a:xfrm>
          <a:prstGeom prst="ellipse">
            <a:avLst/>
          </a:prstGeom>
          <a:solidFill>
            <a:schemeClr val="accent1"/>
          </a:solidFill>
          <a:ln w="12700">
            <a:solidFill>
              <a:schemeClr val="accent1"/>
            </a:solidFill>
            <a:prstDash val="solid"/>
          </a:ln>
        </p:spPr>
      </p:sp>
      <p:sp>
        <p:nvSpPr>
          <p:cNvPr id="17" name="Text 12"/>
          <p:cNvSpPr txBox="1"/>
          <p:nvPr/>
        </p:nvSpPr>
        <p:spPr>
          <a:xfrm>
            <a:off x="2468880" y="3200400"/>
            <a:ext cx="1280160" cy="457200"/>
          </a:xfrm>
          <a:prstGeom prst="rect">
            <a:avLst/>
          </a:prstGeom>
          <a:noFill/>
          <a:ln/>
        </p:spPr>
        <p:txBody>
          <a:bodyPr wrap="square" lIns="0" tIns="0" rIns="0" bIns="0" rtlCol="0" anchor="t"/>
          <a:lstStyle/>
          <a:p>
            <a:pPr algn="ctr" indent="0" marL="0">
              <a:buNone/>
            </a:pPr>
            <a:r>
              <a:rPr lang="en-US" sz="2200" b="1" dirty="0">
                <a:solidFill>
                  <a:schemeClr val="tx1"/>
                </a:solidFill>
                <a:latin typeface="Cambria" pitchFamily="34" charset="0"/>
                <a:ea typeface="Cambria" pitchFamily="34" charset="-122"/>
                <a:cs typeface="Cambria" pitchFamily="34" charset="-120"/>
              </a:rPr>
              <a:t>2 of 3</a:t>
            </a:r>
            <a:endParaRPr lang="en-US" sz="2200" dirty="0"/>
          </a:p>
        </p:txBody>
      </p:sp>
      <p:sp>
        <p:nvSpPr>
          <p:cNvPr id="18" name="Text 13"/>
          <p:cNvSpPr txBox="1"/>
          <p:nvPr/>
        </p:nvSpPr>
        <p:spPr>
          <a:xfrm>
            <a:off x="6400800" y="1600200"/>
            <a:ext cx="524225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AUTOMATIC, EVERY DAY</a:t>
            </a:r>
            <a:endParaRPr lang="en-US" sz="1100" dirty="0"/>
          </a:p>
        </p:txBody>
      </p:sp>
      <p:sp>
        <p:nvSpPr>
          <p:cNvPr id="19" name="Text 14"/>
          <p:cNvSpPr txBox="1"/>
          <p:nvPr/>
        </p:nvSpPr>
        <p:spPr>
          <a:xfrm>
            <a:off x="6400800" y="1920240"/>
            <a:ext cx="5242255" cy="731520"/>
          </a:xfrm>
          <a:prstGeom prst="rect">
            <a:avLst/>
          </a:prstGeom>
          <a:noFill/>
          <a:ln/>
        </p:spPr>
        <p:txBody>
          <a:bodyPr wrap="square" lIns="0" tIns="0" rIns="0" bIns="0" rtlCol="0" anchor="t"/>
          <a:lstStyle/>
          <a:p>
            <a:pPr indent="0" marL="0">
              <a:buNone/>
            </a:pPr>
            <a:r>
              <a:rPr lang="en-US" sz="1600" dirty="0">
                <a:solidFill>
                  <a:schemeClr val="bg1"/>
                </a:solidFill>
              </a:rPr>
              <a:t>Record a new collateral fingerprint</a:t>
            </a:r>
            <a:endParaRPr lang="en-US" sz="1600" dirty="0"/>
          </a:p>
          <a:p>
            <a:pPr indent="0" marL="0">
              <a:buNone/>
            </a:pPr>
            <a:r>
              <a:rPr lang="en-US" sz="1600" dirty="0">
                <a:solidFill>
                  <a:schemeClr val="bg1"/>
                </a:solidFill>
              </a:rPr>
              <a:t>Check a draw and release the funds</a:t>
            </a:r>
            <a:endParaRPr lang="en-US" sz="1600" dirty="0"/>
          </a:p>
        </p:txBody>
      </p:sp>
      <p:sp>
        <p:nvSpPr>
          <p:cNvPr id="20" name="Text 15"/>
          <p:cNvSpPr txBox="1"/>
          <p:nvPr/>
        </p:nvSpPr>
        <p:spPr>
          <a:xfrm>
            <a:off x="6400800" y="2834640"/>
            <a:ext cx="5242255"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NEEDS TWO MEMBERS OUT OF THREE</a:t>
            </a:r>
            <a:endParaRPr lang="en-US" sz="1100" dirty="0"/>
          </a:p>
        </p:txBody>
      </p:sp>
      <p:sp>
        <p:nvSpPr>
          <p:cNvPr id="21" name="Text 16"/>
          <p:cNvSpPr txBox="1"/>
          <p:nvPr/>
        </p:nvSpPr>
        <p:spPr>
          <a:xfrm>
            <a:off x="6400800" y="3154680"/>
            <a:ext cx="5242255" cy="731520"/>
          </a:xfrm>
          <a:prstGeom prst="rect">
            <a:avLst/>
          </a:prstGeom>
          <a:noFill/>
          <a:ln/>
        </p:spPr>
        <p:txBody>
          <a:bodyPr wrap="square" lIns="0" tIns="0" rIns="0" bIns="0" rtlCol="0" anchor="t"/>
          <a:lstStyle/>
          <a:p>
            <a:pPr indent="0" marL="0">
              <a:buNone/>
            </a:pPr>
            <a:r>
              <a:rPr lang="en-US" sz="1600" dirty="0">
                <a:solidFill>
                  <a:schemeClr val="bg1"/>
                </a:solidFill>
              </a:rPr>
              <a:t>Switch the automatic checks on or off</a:t>
            </a:r>
            <a:endParaRPr lang="en-US" sz="1600" dirty="0"/>
          </a:p>
          <a:p>
            <a:pPr indent="0" marL="0">
              <a:buNone/>
            </a:pPr>
            <a:r>
              <a:rPr lang="en-US" sz="1600" dirty="0">
                <a:solidFill>
                  <a:schemeClr val="bg1"/>
                </a:solidFill>
              </a:rPr>
              <a:t>Free a collateral under dispute</a:t>
            </a:r>
            <a:endParaRPr lang="en-US" sz="1600" dirty="0"/>
          </a:p>
        </p:txBody>
      </p:sp>
      <p:sp>
        <p:nvSpPr>
          <p:cNvPr id="22" name="Text 17"/>
          <p:cNvSpPr txBox="1"/>
          <p:nvPr/>
        </p:nvSpPr>
        <p:spPr>
          <a:xfrm>
            <a:off x="6400800" y="4069080"/>
            <a:ext cx="5242255"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ONE APPROVAL IS NOT ENOUGH</a:t>
            </a:r>
            <a:endParaRPr lang="en-US" sz="1100" dirty="0"/>
          </a:p>
        </p:txBody>
      </p:sp>
      <p:sp>
        <p:nvSpPr>
          <p:cNvPr id="23" name="Text 18"/>
          <p:cNvSpPr txBox="1"/>
          <p:nvPr/>
        </p:nvSpPr>
        <p:spPr>
          <a:xfrm>
            <a:off x="6400800" y="4389120"/>
            <a:ext cx="5242255" cy="640080"/>
          </a:xfrm>
          <a:prstGeom prst="rect">
            <a:avLst/>
          </a:prstGeom>
          <a:noFill/>
          <a:ln/>
        </p:spPr>
        <p:txBody>
          <a:bodyPr wrap="square" lIns="0" tIns="0" rIns="0" bIns="0" rtlCol="0" anchor="t"/>
          <a:lstStyle/>
          <a:p>
            <a:pPr indent="0" marL="0">
              <a:buNone/>
            </a:pPr>
            <a:r>
              <a:rPr lang="en-US" sz="1400" i="1" dirty="0">
                <a:solidFill>
                  <a:schemeClr val="bg2"/>
                </a:solidFill>
              </a:rPr>
              <a:t>"The requirement 'Enough confirmations to execute action' was not met."</a:t>
            </a:r>
            <a:endParaRPr lang="en-US" sz="1400" dirty="0"/>
          </a:p>
        </p:txBody>
      </p:sp>
      <p:sp>
        <p:nvSpPr>
          <p:cNvPr id="24" name="Text 19"/>
          <p:cNvSpPr txBox="1"/>
          <p:nvPr/>
        </p:nvSpPr>
        <p:spPr>
          <a:xfrm>
            <a:off x="6400800" y="5166360"/>
            <a:ext cx="5242255" cy="685800"/>
          </a:xfrm>
          <a:prstGeom prst="rect">
            <a:avLst/>
          </a:prstGeom>
          <a:noFill/>
          <a:ln/>
        </p:spPr>
        <p:txBody>
          <a:bodyPr wrap="square" lIns="0" tIns="0" rIns="0" bIns="0" rtlCol="0" anchor="t"/>
          <a:lstStyle/>
          <a:p>
            <a:pPr indent="0" marL="0">
              <a:buNone/>
            </a:pPr>
            <a:r>
              <a:rPr lang="en-US" sz="1200" dirty="0">
                <a:solidFill>
                  <a:schemeClr val="accent5"/>
                </a:solidFill>
              </a:rPr>
              <a:t>Proven on a three-node Canton network with BitSafe's Decentralization Manager. On DevNet the registry runs as a single party with the same automation.</a:t>
            </a:r>
            <a:endParaRPr lang="en-US" sz="1200" dirty="0"/>
          </a:p>
        </p:txBody>
      </p:sp>
      <p:sp>
        <p:nvSpPr>
          <p:cNvPr id="25" name="Slide Number Placeholder 0"/>
          <p:cNvSpPr>
            <a:spLocks noGrp="1"/>
          </p:cNvSpPr>
          <p:nvPr>
            <p:ph type="sldNum" sz="quarter" idx="4294967295"/>
          </p:nvPr>
        </p:nvSpPr>
        <p:spPr>
          <a:xfrm>
            <a:off x="11094415" y="630936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PledgeGuard">
  <a:themeElements>
    <a:clrScheme name="PledgeGuard">
      <a:dk1>
        <a:srgbClr val="0B0C0F"/>
      </a:dk1>
      <a:lt1>
        <a:srgbClr val="F5F3EA"/>
      </a:lt1>
      <a:dk2>
        <a:srgbClr val="15181D"/>
      </a:dk2>
      <a:lt2>
        <a:srgbClr val="A9ADB6"/>
      </a:lt2>
      <a:accent1>
        <a:srgbClr val="C9B98A"/>
      </a:accent1>
      <a:accent2>
        <a:srgbClr val="E5484D"/>
      </a:accent2>
      <a:accent3>
        <a:srgbClr val="3FB27F"/>
      </a:accent3>
      <a:accent4>
        <a:srgbClr val="5B8DEF"/>
      </a:accent4>
      <a:accent5>
        <a:srgbClr val="6B707B"/>
      </a:accent5>
      <a:accent6>
        <a:srgbClr val="2A2E36"/>
      </a:accent6>
      <a:hlink>
        <a:srgbClr val="C9B98A"/>
      </a:hlink>
      <a:folHlink>
        <a:srgbClr val="A9ADB6"/>
      </a:folHlink>
    </a:clrScheme>
    <a:fontScheme name="Pledge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PledgeGuard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PledgeGuard</dc:title>
  <dc:subject>Stopping double-pledged collateral on Canton</dc:subject>
  <dc:creator>PledgeGuard</dc:creator>
  <cp:lastModifiedBy>PledgeGuard</cp:lastModifiedBy>
  <cp:revision>1</cp:revision>
  <dcterms:created xsi:type="dcterms:W3CDTF">2026-10-06T14:41:24Z</dcterms:created>
  <dcterms:modified xsi:type="dcterms:W3CDTF">2026-10-06T14:41:24Z</dcterms:modified>
</cp:coreProperties>
</file>